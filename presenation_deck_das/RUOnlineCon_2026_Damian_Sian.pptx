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4"/>
  </p:sldMasterIdLst>
  <p:notesMasterIdLst>
    <p:notesMasterId r:id="rId29"/>
  </p:notesMasterIdLst>
  <p:handoutMasterIdLst>
    <p:handoutMasterId r:id="rId30"/>
  </p:handoutMasterIdLst>
  <p:sldIdLst>
    <p:sldId id="269" r:id="rId5"/>
    <p:sldId id="275" r:id="rId6"/>
    <p:sldId id="274" r:id="rId7"/>
    <p:sldId id="276" r:id="rId8"/>
    <p:sldId id="280" r:id="rId9"/>
    <p:sldId id="281" r:id="rId10"/>
    <p:sldId id="282" r:id="rId11"/>
    <p:sldId id="283" r:id="rId12"/>
    <p:sldId id="278" r:id="rId13"/>
    <p:sldId id="279" r:id="rId14"/>
    <p:sldId id="285" r:id="rId15"/>
    <p:sldId id="286" r:id="rId16"/>
    <p:sldId id="287" r:id="rId17"/>
    <p:sldId id="288" r:id="rId18"/>
    <p:sldId id="290" r:id="rId19"/>
    <p:sldId id="277" r:id="rId20"/>
    <p:sldId id="284" r:id="rId21"/>
    <p:sldId id="291" r:id="rId22"/>
    <p:sldId id="292" r:id="rId23"/>
    <p:sldId id="296" r:id="rId24"/>
    <p:sldId id="297" r:id="rId25"/>
    <p:sldId id="295" r:id="rId26"/>
    <p:sldId id="293" r:id="rId27"/>
    <p:sldId id="294" r:id="rId28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9pPr>
  </p:defaultTextStyle>
  <p:extLst>
    <p:ext uri="{521415D9-36F7-43E2-AB2F-B90AF26B5E84}">
      <p14:sectionLst xmlns:p14="http://schemas.microsoft.com/office/powerpoint/2010/main">
        <p14:section name="Introduciton" id="{643FA792-952C-7643-BCD6-8E46DC6CD96D}">
          <p14:sldIdLst>
            <p14:sldId id="269"/>
            <p14:sldId id="275"/>
          </p14:sldIdLst>
        </p14:section>
        <p14:section name="Section one: Intro to Damian" id="{AB86122B-9E0B-F74A-9B20-A361ACEC9C9C}">
          <p14:sldIdLst>
            <p14:sldId id="274"/>
            <p14:sldId id="276"/>
            <p14:sldId id="280"/>
            <p14:sldId id="281"/>
            <p14:sldId id="282"/>
            <p14:sldId id="283"/>
          </p14:sldIdLst>
        </p14:section>
        <p14:section name="Section two – workshop strcuture" id="{63479A42-991B-F142-BBC9-633451C1720D}">
          <p14:sldIdLst>
            <p14:sldId id="278"/>
            <p14:sldId id="279"/>
            <p14:sldId id="285"/>
            <p14:sldId id="286"/>
            <p14:sldId id="287"/>
            <p14:sldId id="288"/>
            <p14:sldId id="290"/>
          </p14:sldIdLst>
        </p14:section>
        <p14:section name="Section three - Scope of challenges" id="{D2B3A953-4E64-7F44-BE32-EAD41AD4383F}">
          <p14:sldIdLst>
            <p14:sldId id="277"/>
            <p14:sldId id="284"/>
            <p14:sldId id="291"/>
            <p14:sldId id="292"/>
            <p14:sldId id="296"/>
            <p14:sldId id="297"/>
            <p14:sldId id="295"/>
          </p14:sldIdLst>
        </p14:section>
        <p14:section name="Section four - Text alternatives" id="{2EA8B838-B880-8F42-B8FA-EA2C62748769}">
          <p14:sldIdLst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8F00"/>
    <a:srgbClr val="00FA00"/>
    <a:srgbClr val="767676"/>
    <a:srgbClr val="D8D8D8"/>
    <a:srgbClr val="666666"/>
    <a:srgbClr val="5F5F5F"/>
    <a:srgbClr val="CC0033"/>
    <a:srgbClr val="C00336"/>
    <a:srgbClr val="CE0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18" autoAdjust="0"/>
    <p:restoredTop sz="94672" autoAdjust="0"/>
  </p:normalViewPr>
  <p:slideViewPr>
    <p:cSldViewPr snapToGrid="0">
      <p:cViewPr varScale="1">
        <p:scale>
          <a:sx n="233" d="100"/>
          <a:sy n="233" d="100"/>
        </p:scale>
        <p:origin x="4696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182880" cy="18288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478306-727B-FAAC-9FAB-348A5DCB21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A56B1-01B1-FB87-A0EA-2A61672AEE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770FF-BA1D-BE4E-8504-5165D62D5778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ABD47-093D-36C7-8F41-7F29C243E4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9F1FF-254E-A51B-7AB4-30186B1DBF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CE12B-4B7E-2440-AF69-99014A96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15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02A63-8238-CF49-95F6-4E73F04318D6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B5D43-6794-0847-9F6F-8A7B2FD2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B5D43-6794-0847-9F6F-8A7B2FD2733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14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em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AC949E3-70C9-BDCA-62EA-369FA46CA1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899" y="116732"/>
            <a:ext cx="9261210" cy="491246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D24602-7C0F-8E6F-47FE-642991136F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910155-0137-026A-21DD-91DE18C63B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2258103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16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9FA0308-8DFC-AF0D-F284-D1FE8ABB054C}"/>
              </a:ext>
            </a:extLst>
          </p:cNvPr>
          <p:cNvSpPr/>
          <p:nvPr userDrawn="1"/>
        </p:nvSpPr>
        <p:spPr>
          <a:xfrm>
            <a:off x="0" y="0"/>
            <a:ext cx="518418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2955" y="309764"/>
            <a:ext cx="4378272" cy="1828438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381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16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61534"/>
            <a:ext cx="7018256" cy="1001598"/>
          </a:xfrm>
        </p:spPr>
        <p:txBody>
          <a:bodyPr anchor="b"/>
          <a:lstStyle>
            <a:lvl1pPr algn="l">
              <a:defRPr sz="3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168049-AD8B-BABB-74B2-5B50BAC0F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7200" y="2058114"/>
            <a:ext cx="705124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2172129"/>
            <a:ext cx="7018256" cy="910436"/>
          </a:xfrm>
        </p:spPr>
        <p:txBody>
          <a:bodyPr anchor="t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 descr="Rutgers Online Learning Conference 2026">
            <a:extLst>
              <a:ext uri="{FF2B5EF4-FFF2-40B4-BE49-F238E27FC236}">
                <a16:creationId xmlns:a16="http://schemas.microsoft.com/office/drawing/2014/main" id="{B351AFB9-2960-A3C6-0923-A6F93C64A8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94" y="3540637"/>
            <a:ext cx="1574437" cy="910436"/>
          </a:xfrm>
          <a:prstGeom prst="rect">
            <a:avLst/>
          </a:prstGeom>
        </p:spPr>
      </p:pic>
      <p:pic>
        <p:nvPicPr>
          <p:cNvPr id="9" name="Picture 8" descr="Rutgers University Office of University Online Education Services.">
            <a:extLst>
              <a:ext uri="{FF2B5EF4-FFF2-40B4-BE49-F238E27FC236}">
                <a16:creationId xmlns:a16="http://schemas.microsoft.com/office/drawing/2014/main" id="{F2B81B08-0C94-78A4-36FC-732B4B3AC7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513" y="4002619"/>
            <a:ext cx="2285460" cy="40609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85474-6010-E493-ADC0-E3AB8E43B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54636-3CCA-CA3E-A93F-3E41A0AE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316620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lid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7D09EC-8B20-E955-05EC-3766CA274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9937"/>
            <a:ext cx="6688318" cy="813816"/>
          </a:xfrm>
        </p:spPr>
        <p:txBody>
          <a:bodyPr/>
          <a:lstStyle>
            <a:lvl1pPr>
              <a:defRPr sz="2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650"/>
            <a:ext cx="6688318" cy="333910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6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C676F-13CB-F7CC-FA1D-B76550EE0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0A1CD9-C941-E46E-4A47-184DA6825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AF41B489-5514-C8BB-0E40-3BCC4C069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55FEDE13-127F-53A9-8ACC-4A41525A1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12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40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F9DD41-0D6B-ABC6-C61D-1CEEEDC37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9937"/>
            <a:ext cx="6688318" cy="81381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263886"/>
            <a:ext cx="3278878" cy="3339109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/>
            </a:lvl1pPr>
            <a:lvl2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/>
            </a:lvl2pPr>
            <a:lvl3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/>
            </a:lvl3pPr>
            <a:lvl4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/>
            </a:lvl4pPr>
            <a:lvl5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5775" y="1263887"/>
            <a:ext cx="3279742" cy="3339109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1pPr>
            <a:lvl2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2pPr>
            <a:lvl3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3pPr>
            <a:lvl4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4pPr>
            <a:lvl5pPr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DF1935-FB04-60EC-8456-849C7E44A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763F41-6E42-C76D-C866-20A416809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389563EF-0089-20A6-39CE-B8B55C7AF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7B0F0EEB-7479-AE9B-64BD-D37089722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55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321BC0-18E2-C2B5-2321-3E8AB6F5A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329183"/>
            <a:ext cx="6684264" cy="81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3888"/>
            <a:ext cx="3191256" cy="550054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60675"/>
            <a:ext cx="3191256" cy="2756201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chemeClr val="tx1">
                  <a:lumMod val="95000"/>
                  <a:lumOff val="5000"/>
                </a:schemeClr>
              </a:buClr>
              <a:defRPr lang="en-US" sz="1600"/>
            </a:lvl1pPr>
            <a:lvl2pPr>
              <a:buClr>
                <a:schemeClr val="tx1">
                  <a:lumMod val="95000"/>
                  <a:lumOff val="5000"/>
                </a:schemeClr>
              </a:buClr>
              <a:defRPr lang="en-US" sz="1600"/>
            </a:lvl2pPr>
            <a:lvl3pPr>
              <a:buClr>
                <a:schemeClr val="tx1">
                  <a:lumMod val="95000"/>
                  <a:lumOff val="5000"/>
                </a:schemeClr>
              </a:buClr>
              <a:defRPr lang="en-US" sz="1600"/>
            </a:lvl3pPr>
            <a:lvl4pPr>
              <a:buClr>
                <a:schemeClr val="tx1">
                  <a:lumMod val="95000"/>
                  <a:lumOff val="5000"/>
                </a:schemeClr>
              </a:buClr>
              <a:defRPr lang="en-US" sz="1600"/>
            </a:lvl4pPr>
            <a:lvl5pPr>
              <a:buClr>
                <a:schemeClr val="tx1">
                  <a:lumMod val="95000"/>
                  <a:lumOff val="5000"/>
                </a:schemeClr>
              </a:buClr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0208" y="1263888"/>
            <a:ext cx="3191256" cy="550054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50208" y="1861075"/>
            <a:ext cx="3191256" cy="2772917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chemeClr val="tx1">
                  <a:lumMod val="95000"/>
                  <a:lumOff val="5000"/>
                </a:schemeClr>
              </a:buClr>
              <a:defRPr lang="en-US" sz="1600"/>
            </a:lvl1pPr>
            <a:lvl2pPr>
              <a:buClr>
                <a:schemeClr val="tx1">
                  <a:lumMod val="95000"/>
                  <a:lumOff val="5000"/>
                </a:schemeClr>
              </a:buClr>
              <a:defRPr lang="en-US" sz="1600"/>
            </a:lvl2pPr>
            <a:lvl3pPr>
              <a:buClr>
                <a:schemeClr val="tx1">
                  <a:lumMod val="95000"/>
                  <a:lumOff val="5000"/>
                </a:schemeClr>
              </a:buClr>
              <a:defRPr lang="en-US" sz="1600"/>
            </a:lvl3pPr>
            <a:lvl4pPr>
              <a:buClr>
                <a:schemeClr val="tx1">
                  <a:lumMod val="95000"/>
                  <a:lumOff val="5000"/>
                </a:schemeClr>
              </a:buClr>
              <a:defRPr lang="en-US" sz="1600"/>
            </a:lvl4pPr>
            <a:lvl5pPr>
              <a:buClr>
                <a:schemeClr val="tx1">
                  <a:lumMod val="95000"/>
                  <a:lumOff val="5000"/>
                </a:schemeClr>
              </a:buClr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831CC6-E949-3B8C-A98B-21CDB2B0A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954102-3CC3-2F34-D9B5-50FCE76D0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905051-BCFA-E137-82B6-0C8B1C46D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51C4C05-DFF7-88CE-A09E-E26ACD201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88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lid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D8222F-BC68-D538-4584-C6B7032BB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46C0D2-05CE-361F-351C-5ADDD1DC4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6BCB15-1D2B-A43F-56B9-CDA2F6037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228EEF94-0189-E877-3432-771538BFA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84B3EF67-BC03-1610-E95A-62BCE291F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4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D3CDD1-25AB-0BCF-9AFB-830889347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20B92E-9BD6-B382-EF95-868AD6389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2B4800-945A-C0A9-B6DB-350C6C2F2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5832FC8E-7153-D305-81D4-B327274B0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1A233084-4E92-D361-13A4-3F9CFC357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A967B2-D7D4-7EBB-D8FD-A1AB5EBF1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752945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26499"/>
            <a:ext cx="3008313" cy="871538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348033"/>
            <a:ext cx="3008313" cy="3247175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50000"/>
              </a:lnSpc>
              <a:buNone/>
              <a:defRPr lang="en-US" sz="1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310325"/>
            <a:ext cx="3655309" cy="3284883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ts val="1200"/>
              </a:spcAft>
              <a:defRPr lang="en-US" sz="1400"/>
            </a:lvl1pPr>
            <a:lvl2pPr>
              <a:spcAft>
                <a:spcPts val="1200"/>
              </a:spcAft>
              <a:defRPr lang="en-US" sz="1400"/>
            </a:lvl2pPr>
            <a:lvl3pPr>
              <a:spcAft>
                <a:spcPts val="1200"/>
              </a:spcAft>
              <a:defRPr lang="en-US" sz="1400"/>
            </a:lvl3pPr>
            <a:lvl4pPr>
              <a:spcAft>
                <a:spcPts val="1200"/>
              </a:spcAft>
              <a:defRPr lang="en-US" sz="1400"/>
            </a:lvl4pPr>
            <a:lvl5pPr>
              <a:spcAft>
                <a:spcPts val="1200"/>
              </a:spcAft>
              <a:defRPr lang="en-US" sz="1400" dirty="0"/>
            </a:lvl5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>
                  <a:lumMod val="50000"/>
                </a:schemeClr>
              </a:buClr>
            </a:pPr>
            <a:r>
              <a:rPr lang="en-US" dirty="0"/>
              <a:t>Fifth level</a:t>
            </a:r>
          </a:p>
        </p:txBody>
      </p:sp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142EB770-0FCA-1007-A93B-7ECCC907D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Getting to 10</a:t>
            </a:r>
            <a:r>
              <a:rPr lang="en-US" dirty="0">
                <a:solidFill>
                  <a:srgbClr val="767676"/>
                </a:solidFill>
              </a:rPr>
              <a:t>0</a:t>
            </a:r>
            <a:r>
              <a:rPr lang="en-US" dirty="0"/>
              <a:t>: Fixing Your Anthology Ally Errors</a:t>
            </a: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971C686C-649B-A13A-A2D2-9EECB4FC4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666666"/>
                </a:solidFill>
              </a:defRPr>
            </a:lvl1pPr>
          </a:lstStyle>
          <a:p>
            <a:fld id="{E2D72577-C5EA-2248-880D-8FE657DD826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0448099-D8B9-311B-76A8-6C5004B07E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51"/>
          <a:stretch>
            <a:fillRect/>
          </a:stretch>
        </p:blipFill>
        <p:spPr>
          <a:xfrm>
            <a:off x="8204506" y="4428613"/>
            <a:ext cx="487932" cy="406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EB697C-C0C5-C0A3-5766-2497894B7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700" y="177800"/>
            <a:ext cx="13843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9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A163F-5D98-710E-AD63-B5CE8270576D}"/>
              </a:ext>
            </a:extLst>
          </p:cNvPr>
          <p:cNvSpPr/>
          <p:nvPr userDrawn="1"/>
        </p:nvSpPr>
        <p:spPr>
          <a:xfrm>
            <a:off x="0" y="0"/>
            <a:ext cx="7654565" cy="5143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29937"/>
            <a:ext cx="6688318" cy="810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7187"/>
            <a:ext cx="6688318" cy="3335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1D7357-CDC8-5B16-71A1-B3BDF6624E55}"/>
              </a:ext>
            </a:extLst>
          </p:cNvPr>
          <p:cNvSpPr txBox="1"/>
          <p:nvPr userDrawn="1"/>
        </p:nvSpPr>
        <p:spPr>
          <a:xfrm>
            <a:off x="7777112" y="130152"/>
            <a:ext cx="1272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#</a:t>
            </a:r>
            <a:r>
              <a:rPr lang="en-US" sz="1200" b="1" dirty="0" err="1">
                <a:solidFill>
                  <a:schemeClr val="bg1"/>
                </a:solidFill>
              </a:rPr>
              <a:t>RUOnlineCon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10EFEA31-26D0-2507-F2C6-BA951DBA2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767263"/>
            <a:ext cx="649035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F162AB70-B2EB-1A66-4EEA-F865DBDAD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8957" y="4767263"/>
            <a:ext cx="47428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b="0" i="0" smtClean="0">
                <a:effectLst/>
              </a:defRPr>
            </a:lvl1pPr>
          </a:lstStyle>
          <a:p>
            <a:r>
              <a:rPr lang="en-US" dirty="0"/>
              <a:t>&lt;#&gt;</a:t>
            </a:r>
          </a:p>
        </p:txBody>
      </p:sp>
      <p:pic>
        <p:nvPicPr>
          <p:cNvPr id="6" name="Graphic 1">
            <a:extLst>
              <a:ext uri="{FF2B5EF4-FFF2-40B4-BE49-F238E27FC236}">
                <a16:creationId xmlns:a16="http://schemas.microsoft.com/office/drawing/2014/main" id="{42C5437B-A8B1-7201-82B3-76232216AC2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3" r="79570" b="1"/>
          <a:stretch/>
        </p:blipFill>
        <p:spPr>
          <a:xfrm>
            <a:off x="8189148" y="4499811"/>
            <a:ext cx="457547" cy="4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1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lang="en-US" sz="2600" b="1" dirty="0">
          <a:solidFill>
            <a:srgbClr val="CC0033"/>
          </a:solidFill>
          <a:latin typeface="Aptos Display" panose="020B0004020202020204" pitchFamily="34" charset="0"/>
          <a:ea typeface="Aptos Display" panose="020B0004020202020204" pitchFamily="34" charset="0"/>
          <a:cs typeface="Aptos Display" panose="020B00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9pPr>
    </p:titleStyle>
    <p:bodyStyle>
      <a:lvl1pPr marL="285750" indent="-285750" algn="l" rtl="0" eaLnBrk="1" fontAlgn="base" hangingPunct="1">
        <a:spcBef>
          <a:spcPts val="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8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Aptos" panose="020B0004020202020204" pitchFamily="34" charset="0"/>
          <a:cs typeface="Aptos" panose="020B0004020202020204" pitchFamily="34" charset="0"/>
        </a:defRPr>
      </a:lvl1pPr>
      <a:lvl2pPr marL="742950" indent="-285750" algn="l" rtl="0" eaLnBrk="1" fontAlgn="base" hangingPunct="1">
        <a:spcBef>
          <a:spcPts val="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6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Geneva" charset="0"/>
          <a:cs typeface="Aptos" panose="020B0004020202020204" pitchFamily="34" charset="0"/>
        </a:defRPr>
      </a:lvl2pPr>
      <a:lvl3pPr marL="1200150" indent="-285750" algn="l" rtl="0" eaLnBrk="1" fontAlgn="base" hangingPunct="1">
        <a:spcBef>
          <a:spcPct val="2000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4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Geneva" charset="0"/>
          <a:cs typeface="Aptos" panose="020B0004020202020204" pitchFamily="34" charset="0"/>
        </a:defRPr>
      </a:lvl3pPr>
      <a:lvl4pPr marL="1543050" indent="-171450" algn="l" rtl="0" eaLnBrk="1" fontAlgn="base" hangingPunct="1">
        <a:spcBef>
          <a:spcPct val="2000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2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Geneva" charset="0"/>
          <a:cs typeface="Aptos" panose="020B0004020202020204" pitchFamily="34" charset="0"/>
        </a:defRPr>
      </a:lvl4pPr>
      <a:lvl5pPr marL="2000250" indent="-171450" algn="l" rtl="0" eaLnBrk="1" fontAlgn="base" hangingPunct="1">
        <a:spcBef>
          <a:spcPct val="20000"/>
        </a:spcBef>
        <a:spcAft>
          <a:spcPts val="800"/>
        </a:spcAft>
        <a:buClr>
          <a:schemeClr val="tx1">
            <a:lumMod val="95000"/>
            <a:lumOff val="5000"/>
          </a:schemeClr>
        </a:buClr>
        <a:buFont typeface="Arial" panose="020B0604020202020204" pitchFamily="34" charset="0"/>
        <a:buChar char="•"/>
        <a:defRPr lang="en-US" sz="1000" dirty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ea typeface="Geneva" charset="0"/>
          <a:cs typeface="Aptos" panose="020B00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anthology.com/ally-web/en/administrators/ally-accessibility-checklist.html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5">
            <a:extLst>
              <a:ext uri="{FF2B5EF4-FFF2-40B4-BE49-F238E27FC236}">
                <a16:creationId xmlns:a16="http://schemas.microsoft.com/office/drawing/2014/main" id="{21F43A55-8E3A-327C-30E7-786F3CA6D4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 bwMode="auto">
          <a:xfrm>
            <a:off x="402954" y="309764"/>
            <a:ext cx="4668775" cy="1828438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3400" b="1">
                <a:solidFill>
                  <a:schemeClr val="tx1"/>
                </a:solidFill>
                <a:latin typeface="+mj-lt"/>
                <a:ea typeface="ヒラギノ角ゴ Pro W3" charset="0"/>
                <a:cs typeface="Geneva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  <a:ea typeface="ヒラギノ角ゴ Pro W3" charset="0"/>
                <a:cs typeface="Geneva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  <a:ea typeface="ヒラギノ角ゴ Pro W3" charset="0"/>
                <a:cs typeface="Geneva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  <a:ea typeface="ヒラギノ角ゴ Pro W3" charset="0"/>
                <a:cs typeface="Geneva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  <a:ea typeface="ヒラギノ角ゴ Pro W3" charset="0"/>
                <a:cs typeface="Geneva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Display" panose="020B0004020202020204" pitchFamily="34" charset="0"/>
                <a:ea typeface="ヒラギノ角ゴ Pro W3" charset="0"/>
                <a:cs typeface="Geneva" charset="0"/>
              </a:rPr>
              <a:t>Getting to 100: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Display" panose="020B0004020202020204" pitchFamily="34" charset="0"/>
                <a:ea typeface="ヒラギノ角ゴ Pro W3" charset="0"/>
                <a:cs typeface="Geneva" charset="0"/>
              </a:rPr>
              <a:t>Fixing Your Anthology Ally Errors</a:t>
            </a:r>
          </a:p>
        </p:txBody>
      </p:sp>
      <p:pic>
        <p:nvPicPr>
          <p:cNvPr id="10" name="Picture 9" descr="Damian Sian headshot.">
            <a:extLst>
              <a:ext uri="{FF2B5EF4-FFF2-40B4-BE49-F238E27FC236}">
                <a16:creationId xmlns:a16="http://schemas.microsoft.com/office/drawing/2014/main" id="{972F3268-93B9-7BCC-3A48-D7290DF286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6920" y="2862872"/>
            <a:ext cx="1128091" cy="1122450"/>
          </a:xfrm>
          <a:prstGeom prst="rect">
            <a:avLst/>
          </a:prstGeom>
          <a:ln w="3810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7433EA-FA42-8A99-1177-1FA09840C3FB}"/>
              </a:ext>
            </a:extLst>
          </p:cNvPr>
          <p:cNvSpPr txBox="1"/>
          <p:nvPr/>
        </p:nvSpPr>
        <p:spPr>
          <a:xfrm>
            <a:off x="1738424" y="2790988"/>
            <a:ext cx="3078125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kern="0" dirty="0">
                <a:solidFill>
                  <a:srgbClr val="CC0033"/>
                </a:solidFill>
                <a:latin typeface="Aptos" panose="020B0004020202020204" pitchFamily="34" charset="0"/>
              </a:rPr>
              <a:t>Damian Sian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600" kern="0" dirty="0">
                <a:latin typeface="Aptos" panose="020B0004020202020204" pitchFamily="34" charset="0"/>
              </a:rPr>
              <a:t>Adjunct professor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400" kern="0" dirty="0">
                <a:latin typeface="Aptos" panose="020B0004020202020204" pitchFamily="34" charset="0"/>
              </a:rPr>
              <a:t>School of Communication and Information, Library Sciences</a:t>
            </a:r>
          </a:p>
          <a:p>
            <a:pPr algn="l">
              <a:spcBef>
                <a:spcPts val="0"/>
              </a:spcBef>
            </a:pPr>
            <a:r>
              <a:rPr lang="en-US" sz="1400" kern="0" dirty="0">
                <a:latin typeface="Aptos" panose="020B0004020202020204" pitchFamily="34" charset="0"/>
              </a:rPr>
              <a:t>Rutgers University – New Brunswick</a:t>
            </a:r>
          </a:p>
        </p:txBody>
      </p:sp>
      <p:pic>
        <p:nvPicPr>
          <p:cNvPr id="11" name="Picture 10" descr="Rutgers Online Learning Conference 2026.">
            <a:extLst>
              <a:ext uri="{FF2B5EF4-FFF2-40B4-BE49-F238E27FC236}">
                <a16:creationId xmlns:a16="http://schemas.microsoft.com/office/drawing/2014/main" id="{C99F6023-70ED-74C0-E790-70C94CD8B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020" y="1018083"/>
            <a:ext cx="3626445" cy="2097033"/>
          </a:xfrm>
          <a:prstGeom prst="rect">
            <a:avLst/>
          </a:prstGeom>
        </p:spPr>
      </p:pic>
      <p:pic>
        <p:nvPicPr>
          <p:cNvPr id="6" name="Picture 5" descr="Rutgers University Office of University Online Education Services.">
            <a:extLst>
              <a:ext uri="{FF2B5EF4-FFF2-40B4-BE49-F238E27FC236}">
                <a16:creationId xmlns:a16="http://schemas.microsoft.com/office/drawing/2014/main" id="{250F287F-D785-6203-A351-FE9876AC4C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513" y="4486668"/>
            <a:ext cx="2285460" cy="40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13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BEF29-4F0A-89C7-0981-B534580E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E95EBA-3A1E-D44D-F73C-EE266F48BE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Background and housekeeping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Presenter introduction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Workshop structure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Scope of the challenge and technology limitations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EC8966-4EE3-9BFA-F193-85365A5DC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5775" y="1263887"/>
            <a:ext cx="3673918" cy="3339109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Hands-on activities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Text alternatives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Color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Structure (headings and tables)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Links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Video captions</a:t>
            </a:r>
          </a:p>
          <a:p>
            <a:pPr marL="571500" indent="-338138">
              <a:buFont typeface="+mj-lt"/>
              <a:buAutoNum type="arabicPeriod"/>
            </a:pPr>
            <a:r>
              <a:rPr lang="en-US" dirty="0"/>
              <a:t>Flashing blinking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5898D-2191-2447-DDC9-FD055D2D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C0F58-E3E3-7C20-3256-53FAB2316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5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5D3C24-67FF-527E-9AE1-2657BF35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1534"/>
            <a:ext cx="7018256" cy="1001598"/>
          </a:xfrm>
        </p:spPr>
        <p:txBody>
          <a:bodyPr/>
          <a:lstStyle/>
          <a:p>
            <a:r>
              <a:rPr lang="en-US" dirty="0"/>
              <a:t>Section one: Presenter introduction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E1B839A-9E1A-7A48-2C9C-F98756B27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72129"/>
            <a:ext cx="7018256" cy="910436"/>
          </a:xfrm>
        </p:spPr>
        <p:txBody>
          <a:bodyPr/>
          <a:lstStyle/>
          <a:p>
            <a:r>
              <a:rPr lang="en-US" dirty="0"/>
              <a:t>Who the hell does this guy think he is anyway? 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7BDC93F-6C38-CBC5-2384-ED4A91287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</p:spPr>
        <p:txBody>
          <a:bodyPr/>
          <a:lstStyle/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03AD1D3-81BF-FB0E-BE1D-CBB14E21D9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8957" y="4767263"/>
            <a:ext cx="474284" cy="274637"/>
          </a:xfrm>
        </p:spPr>
        <p:txBody>
          <a:bodyPr/>
          <a:lstStyle/>
          <a:p>
            <a:r>
              <a:rPr lang="en-US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253737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C596-5C17-ED78-0A5C-9CAA5EA7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in section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9466E-1500-F778-31EC-32DFEF827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Meet your workshop facilitator, Damian Sian and learn about his: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Work history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Credentials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Background in accessibility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Important highlights in the field of accessibility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D030A-69DD-4EED-01CF-190F693C2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CF0D3-2FC3-C476-807E-7FD8319CF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93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C4E7-65E3-1CE1-D9D0-39D40DCA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EB5A4-2E60-835A-804C-0AB033677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63886"/>
            <a:ext cx="3649388" cy="3339109"/>
          </a:xfrm>
        </p:spPr>
        <p:txBody>
          <a:bodyPr/>
          <a:lstStyle/>
          <a:p>
            <a:pPr marL="228600" indent="-228600"/>
            <a:r>
              <a:rPr lang="en-US" sz="1500" dirty="0"/>
              <a:t>Damian has worked in the accessibility field for 14 years for institutions such as Princeton University and Prudential Financial. </a:t>
            </a:r>
          </a:p>
          <a:p>
            <a:pPr marL="228600" indent="-228600"/>
            <a:r>
              <a:rPr lang="en-US" sz="1500" dirty="0"/>
              <a:t>He teaches an </a:t>
            </a:r>
            <a:r>
              <a:rPr lang="en-US" sz="1500" i="1" dirty="0"/>
              <a:t>Introduction to Web Accessibility </a:t>
            </a:r>
            <a:r>
              <a:rPr lang="en-US" sz="1500" dirty="0"/>
              <a:t>course at Rutgers University on the New Brunswick campus. </a:t>
            </a:r>
          </a:p>
          <a:p>
            <a:pPr marL="228600" indent="-228600"/>
            <a:r>
              <a:rPr lang="en-US" sz="1500" dirty="0"/>
              <a:t>Damian currently serves as a Principal Engineering Program Manager at Adobe on the Product Equity team.</a:t>
            </a:r>
          </a:p>
        </p:txBody>
      </p:sp>
      <p:pic>
        <p:nvPicPr>
          <p:cNvPr id="16" name="Picture 15" descr="Prudential logo. ">
            <a:extLst>
              <a:ext uri="{FF2B5EF4-FFF2-40B4-BE49-F238E27FC236}">
                <a16:creationId xmlns:a16="http://schemas.microsoft.com/office/drawing/2014/main" id="{CF3D102F-CD19-7AB8-8A28-164D10465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215" y="1156634"/>
            <a:ext cx="2606313" cy="685872"/>
          </a:xfrm>
          <a:prstGeom prst="rect">
            <a:avLst/>
          </a:prstGeom>
        </p:spPr>
      </p:pic>
      <p:pic>
        <p:nvPicPr>
          <p:cNvPr id="10" name="Picture 9" descr="Princeton University logo.">
            <a:extLst>
              <a:ext uri="{FF2B5EF4-FFF2-40B4-BE49-F238E27FC236}">
                <a16:creationId xmlns:a16="http://schemas.microsoft.com/office/drawing/2014/main" id="{337BC4CD-9168-302E-3026-18C241F20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13" b="23568"/>
          <a:stretch>
            <a:fillRect/>
          </a:stretch>
        </p:blipFill>
        <p:spPr>
          <a:xfrm>
            <a:off x="4770029" y="2056121"/>
            <a:ext cx="2560684" cy="766563"/>
          </a:xfrm>
          <a:prstGeom prst="rect">
            <a:avLst/>
          </a:prstGeom>
        </p:spPr>
      </p:pic>
      <p:pic>
        <p:nvPicPr>
          <p:cNvPr id="18" name="Picture 17" descr="Rutgers SC&amp;I logo. ">
            <a:extLst>
              <a:ext uri="{FF2B5EF4-FFF2-40B4-BE49-F238E27FC236}">
                <a16:creationId xmlns:a16="http://schemas.microsoft.com/office/drawing/2014/main" id="{003E6DE2-51D4-4C52-7C2D-3B01D4B71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56" y="3085579"/>
            <a:ext cx="2513231" cy="467914"/>
          </a:xfrm>
          <a:prstGeom prst="rect">
            <a:avLst/>
          </a:prstGeom>
        </p:spPr>
      </p:pic>
      <p:pic>
        <p:nvPicPr>
          <p:cNvPr id="8" name="Picture 7" descr="Adobe logo. &#10;">
            <a:extLst>
              <a:ext uri="{FF2B5EF4-FFF2-40B4-BE49-F238E27FC236}">
                <a16:creationId xmlns:a16="http://schemas.microsoft.com/office/drawing/2014/main" id="{0949D8A3-D834-D3A7-373C-53E253D8E6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72" b="22655"/>
          <a:stretch>
            <a:fillRect/>
          </a:stretch>
        </p:blipFill>
        <p:spPr>
          <a:xfrm>
            <a:off x="5106465" y="3882093"/>
            <a:ext cx="1887812" cy="58587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912D8-2D3B-32BD-3BC7-3C623D39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F61D9-718A-8CF8-9CCE-03EAE943E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57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209E-68A3-FD65-0557-00A531AC5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5169A-772E-D8D0-B16C-885018F3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A9A5-1A71-3702-3D7D-300B69F6F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/>
              <a:t>Damian has just about all the accessibility credentials one can obtain  from the International Association of Accessibility Professionals (IAAP).</a:t>
            </a:r>
          </a:p>
          <a:p>
            <a:pPr marL="517525" indent="-284163"/>
            <a:r>
              <a:rPr lang="en-US" sz="1600" dirty="0"/>
              <a:t>Certified Practitioner of Accessibility Core Competencies (CPACC)</a:t>
            </a:r>
          </a:p>
          <a:p>
            <a:pPr marL="517525" indent="-284163"/>
            <a:r>
              <a:rPr lang="en-US" sz="1600" dirty="0"/>
              <a:t>Web Accessibility Specialist (WAS)</a:t>
            </a:r>
          </a:p>
          <a:p>
            <a:pPr marL="517525" indent="-284163"/>
            <a:r>
              <a:rPr lang="en-US" sz="1600" dirty="0"/>
              <a:t>Certified Practitioner of Web Accessibility (CPWA)</a:t>
            </a:r>
          </a:p>
          <a:p>
            <a:pPr marL="517525" indent="-284163"/>
            <a:r>
              <a:rPr lang="en-US" sz="1600" dirty="0"/>
              <a:t>Accessible Document Specialist (ADS)</a:t>
            </a:r>
          </a:p>
        </p:txBody>
      </p:sp>
      <p:pic>
        <p:nvPicPr>
          <p:cNvPr id="15" name="Picture 14" descr="CPACC, WAS, CPWA, ADS, and a placeholder badges.">
            <a:extLst>
              <a:ext uri="{FF2B5EF4-FFF2-40B4-BE49-F238E27FC236}">
                <a16:creationId xmlns:a16="http://schemas.microsoft.com/office/drawing/2014/main" id="{C0F91196-C07D-A1F7-1D6F-E81CDFD28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36" y="3832813"/>
            <a:ext cx="3308831" cy="616127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C2BC4F5-9385-2BDA-96D1-35FFB4D61765}"/>
              </a:ext>
            </a:extLst>
          </p:cNvPr>
          <p:cNvSpPr txBox="1">
            <a:spLocks/>
          </p:cNvSpPr>
          <p:nvPr/>
        </p:nvSpPr>
        <p:spPr bwMode="auto">
          <a:xfrm>
            <a:off x="3909470" y="3789011"/>
            <a:ext cx="3175761" cy="804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80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defRPr>
            </a:lvl1pPr>
            <a:lvl2pPr marL="742950" indent="-2857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2pPr>
            <a:lvl3pPr marL="1200150" indent="-2857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400">
                <a:solidFill>
                  <a:schemeClr val="tx1"/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3pPr>
            <a:lvl4pPr marL="1543050" indent="-1714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200">
                <a:solidFill>
                  <a:schemeClr val="tx1"/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4pPr>
            <a:lvl5pPr marL="2000250" indent="-17145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000">
                <a:solidFill>
                  <a:schemeClr val="tx1"/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sz="1400" kern="0" dirty="0"/>
              <a:t>Working on a UX Design accessibility certification IAAP and curriculum with </a:t>
            </a:r>
            <a:r>
              <a:rPr lang="en-US" sz="1400" kern="0" dirty="0" err="1"/>
              <a:t>TeachAccess</a:t>
            </a:r>
            <a:r>
              <a:rPr lang="en-US" sz="1400" kern="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DB131-ECD8-C3EC-6118-80F1B510E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B760E-85A8-E886-AD79-97D49880D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1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50D9-C73E-D530-D395-EDB8ED74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4CC6-E2C2-EE15-B9C3-F6D994AB5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Front-end development (HTML and mostly React)</a:t>
            </a:r>
          </a:p>
          <a:p>
            <a:r>
              <a:rPr lang="en-US" sz="1600" dirty="0"/>
              <a:t>Document accessibility (30 years in communications industry)</a:t>
            </a:r>
          </a:p>
          <a:p>
            <a:r>
              <a:rPr lang="en-US" sz="1600" dirty="0"/>
              <a:t>Automated and manual testing (including building tools and process)</a:t>
            </a:r>
          </a:p>
          <a:p>
            <a:r>
              <a:rPr lang="en-US" sz="1600" dirty="0"/>
              <a:t>Triage and remediation with globally distributed teams</a:t>
            </a:r>
          </a:p>
          <a:p>
            <a:r>
              <a:rPr lang="en-US" sz="1600" dirty="0"/>
              <a:t>Assistive technologies (screen reader and voice control)</a:t>
            </a:r>
          </a:p>
          <a:p>
            <a:r>
              <a:rPr lang="en-US" sz="1600" dirty="0"/>
              <a:t>Compliance, governance, and resource for legal</a:t>
            </a:r>
          </a:p>
          <a:p>
            <a:r>
              <a:rPr lang="en-US" sz="1600" dirty="0"/>
              <a:t>Process and policy creation and enforcement</a:t>
            </a:r>
          </a:p>
          <a:p>
            <a:r>
              <a:rPr lang="en-US" sz="1600" dirty="0"/>
              <a:t>Enablement and training (corporate adult learning)</a:t>
            </a:r>
          </a:p>
          <a:p>
            <a:r>
              <a:rPr lang="en-US" sz="1600" dirty="0"/>
              <a:t>Curriculum and certification development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E7AA9-037B-BCD8-2764-D1915A57C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AC154-26B6-66F6-66BC-316803CA9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4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2C72A1-6D9B-DDDB-7C20-E5C64801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important highlights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4AFE28-AAB0-702D-D1F6-ABEBC609B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63887"/>
            <a:ext cx="3278878" cy="4827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Speaking at the United Nations was pretty cool. </a:t>
            </a:r>
          </a:p>
        </p:txBody>
      </p:sp>
      <p:pic>
        <p:nvPicPr>
          <p:cNvPr id="20" name="Picture 19" descr="Damian is speaking at the UN on a panel with other people. He is seated at a table with microphones, wearing a suit with a Princeton colored tie. ">
            <a:extLst>
              <a:ext uri="{FF2B5EF4-FFF2-40B4-BE49-F238E27FC236}">
                <a16:creationId xmlns:a16="http://schemas.microsoft.com/office/drawing/2014/main" id="{343D643C-F767-CDFD-5953-8E952E160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67" y="1971159"/>
            <a:ext cx="3205007" cy="185070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4E889C-EB13-9D74-ADA2-D582B7925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5775" y="1263887"/>
            <a:ext cx="3279742" cy="5430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But my recycling bins are by far my proudest achievement.</a:t>
            </a:r>
          </a:p>
          <a:p>
            <a:endParaRPr lang="en-US" dirty="0"/>
          </a:p>
        </p:txBody>
      </p:sp>
      <p:pic>
        <p:nvPicPr>
          <p:cNvPr id="18" name="Picture 17" descr="Damian’s recycling bins, where the paper bin has a single bolt and the plastic and metal bin have two bolts as tactile markers for a blind family member. ">
            <a:extLst>
              <a:ext uri="{FF2B5EF4-FFF2-40B4-BE49-F238E27FC236}">
                <a16:creationId xmlns:a16="http://schemas.microsoft.com/office/drawing/2014/main" id="{44B5353D-457E-FE74-D05B-252F370E3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882" y="1993064"/>
            <a:ext cx="3025643" cy="226923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B3BB9-29D2-0982-AB22-BA07582AB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27A1C-B96E-FCAE-B668-F3ACEDC79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9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C754D-599F-656D-B5F0-A4B335A2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26CF18-AD7A-115C-0FE6-E5C35C9F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1534"/>
            <a:ext cx="7018256" cy="1001598"/>
          </a:xfrm>
        </p:spPr>
        <p:txBody>
          <a:bodyPr/>
          <a:lstStyle/>
          <a:p>
            <a:r>
              <a:rPr lang="en-US" dirty="0"/>
              <a:t>Section two: Workshop structure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BBF6445-6BC9-3092-1300-6F9041777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72129"/>
            <a:ext cx="7018256" cy="910436"/>
          </a:xfrm>
        </p:spPr>
        <p:txBody>
          <a:bodyPr/>
          <a:lstStyle/>
          <a:p>
            <a:r>
              <a:rPr lang="en-US" dirty="0"/>
              <a:t>How we’ll facilitate our interactive this interactive journey.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89275E-0AFD-872A-F29D-B41AA76239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</p:spPr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069DA1-149D-3BBC-3C80-5981F713C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&lt;#&gt;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02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9551-52DE-F712-E59E-A09AA28D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8BDC-7E52-0977-B289-6196E245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in section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324E-6EA0-EEFC-5027-C760EA046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This is how we’ll work together today.</a:t>
            </a:r>
          </a:p>
          <a:p>
            <a:pPr marL="576262" indent="-342900">
              <a:buFont typeface="+mj-lt"/>
              <a:buAutoNum type="arabicPeriod"/>
            </a:pPr>
            <a:r>
              <a:rPr lang="en-US" sz="1600" dirty="0"/>
              <a:t>Where to find your sample files</a:t>
            </a:r>
          </a:p>
          <a:p>
            <a:pPr marL="576262" indent="-342900">
              <a:buFont typeface="+mj-lt"/>
              <a:buAutoNum type="arabicPeriod"/>
            </a:pPr>
            <a:r>
              <a:rPr lang="en-US" sz="1600" dirty="0"/>
              <a:t>Following along in Canvas LMS Ally tool</a:t>
            </a:r>
          </a:p>
          <a:p>
            <a:pPr marL="576262" indent="-342900">
              <a:buFont typeface="+mj-lt"/>
              <a:buAutoNum type="arabicPeriod"/>
            </a:pPr>
            <a:r>
              <a:rPr lang="en-US" sz="1600" dirty="0"/>
              <a:t>The website resource</a:t>
            </a:r>
          </a:p>
          <a:p>
            <a:pPr marL="576262" indent="-342900">
              <a:buFont typeface="+mj-lt"/>
              <a:buAutoNum type="arabicPeriod"/>
            </a:pPr>
            <a:r>
              <a:rPr lang="en-US" sz="1600" dirty="0"/>
              <a:t>Room for questions/challenges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10673-3944-AA3C-0E0E-14D7E8322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02277-6F4F-DC13-153A-9C27A376D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96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27D5-54E0-A5AA-B40B-A2533EB5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EB48A-6B55-3B29-0888-F0D3D322C3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8600" indent="-228600"/>
            <a:r>
              <a:rPr lang="en-US" sz="1500" dirty="0"/>
              <a:t>Download the zip package here, or go the website and download the samples there, your choice.</a:t>
            </a:r>
          </a:p>
          <a:p>
            <a:pPr marL="228600" indent="-228600"/>
            <a:r>
              <a:rPr lang="en-US" sz="1500" dirty="0"/>
              <a:t>Wherever possible, a file is provided for you to place into the Canvas LMS. </a:t>
            </a:r>
          </a:p>
          <a:p>
            <a:pPr marL="228600" indent="-228600"/>
            <a:r>
              <a:rPr lang="en-US" sz="1500" dirty="0"/>
              <a:t>We will trigger automated errors and learn how to resolve them.</a:t>
            </a:r>
          </a:p>
          <a:p>
            <a:pPr marL="228600" indent="-228600"/>
            <a:r>
              <a:rPr lang="en-US" sz="1500" dirty="0"/>
              <a:t>We will also expose where automated testing is lacking.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DD351-F928-48CF-66AE-1B34C28B2E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28600" indent="-228600"/>
            <a:r>
              <a:rPr lang="en-US" sz="1500" dirty="0"/>
              <a:t>Damian will demonstrate assistive technology throughout.</a:t>
            </a:r>
          </a:p>
          <a:p>
            <a:pPr marL="228600" indent="-228600"/>
            <a:r>
              <a:rPr lang="en-US" sz="1500" dirty="0"/>
              <a:t>You are not required to use assistive technology to follow along.</a:t>
            </a:r>
          </a:p>
          <a:p>
            <a:pPr marL="228600" indent="-228600"/>
            <a:r>
              <a:rPr lang="en-US" sz="1500" dirty="0"/>
              <a:t>You will need MS Word, MS PowerPoint, and Acrobat Professional if you intend to follow along with all the topics today.</a:t>
            </a:r>
          </a:p>
          <a:p>
            <a:pPr marL="228600" indent="-228600"/>
            <a:r>
              <a:rPr lang="en-US" sz="1500" dirty="0"/>
              <a:t>You will need access to an instance of Canvas if you intend to follow along (a test course would be the best if you have one).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DB5AF-61DF-40A4-E8F0-698042234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38723-8D98-C667-1D22-2D00F46CD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71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C822-9FCD-5DA8-AF6B-0C2CF5F17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Following along Canvas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019D0-09E0-33C4-2F6A-302543CFE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63886"/>
            <a:ext cx="3278878" cy="37874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File upload function</a:t>
            </a:r>
          </a:p>
        </p:txBody>
      </p:sp>
      <p:pic>
        <p:nvPicPr>
          <p:cNvPr id="7" name="Picture 6" descr="The file upload screen from Canvas. ">
            <a:extLst>
              <a:ext uri="{FF2B5EF4-FFF2-40B4-BE49-F238E27FC236}">
                <a16:creationId xmlns:a16="http://schemas.microsoft.com/office/drawing/2014/main" id="{830DD157-1BD1-18B6-3CB9-46890226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84" y="1665887"/>
            <a:ext cx="3302912" cy="227096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401AA7-1CA1-C94E-1AC9-93751A7EC303}"/>
              </a:ext>
            </a:extLst>
          </p:cNvPr>
          <p:cNvSpPr txBox="1">
            <a:spLocks/>
          </p:cNvSpPr>
          <p:nvPr/>
        </p:nvSpPr>
        <p:spPr bwMode="auto">
          <a:xfrm>
            <a:off x="457199" y="4034790"/>
            <a:ext cx="3278878" cy="67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defRPr>
            </a:lvl1pPr>
            <a:lvl2pPr marL="7429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2pPr>
            <a:lvl3pPr marL="12001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3pPr>
            <a:lvl4pPr marL="1543050" indent="-1714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4pPr>
            <a:lvl5pPr marL="2000250" indent="-1714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kern="0" dirty="0"/>
              <a:t>You’re encouraged to create a folder in your files section of Canvas, so you don’t muddy your existing file structure in your course.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6D3F1-284F-3157-B41D-565AC7298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5775" y="1263888"/>
            <a:ext cx="3279742" cy="41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Rich Content Editor (RCE)</a:t>
            </a:r>
          </a:p>
        </p:txBody>
      </p:sp>
      <p:pic>
        <p:nvPicPr>
          <p:cNvPr id="8" name="Picture 7" descr="The Rich Text Editor from Canvas. ">
            <a:extLst>
              <a:ext uri="{FF2B5EF4-FFF2-40B4-BE49-F238E27FC236}">
                <a16:creationId xmlns:a16="http://schemas.microsoft.com/office/drawing/2014/main" id="{6DC2539B-00C1-5C32-5E62-F9D34A6FA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192" y="1669714"/>
            <a:ext cx="3668550" cy="171411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A49716C-474A-7669-C000-E9E7668EBA5E}"/>
              </a:ext>
            </a:extLst>
          </p:cNvPr>
          <p:cNvSpPr txBox="1">
            <a:spLocks/>
          </p:cNvSpPr>
          <p:nvPr/>
        </p:nvSpPr>
        <p:spPr bwMode="auto">
          <a:xfrm>
            <a:off x="3939038" y="3525574"/>
            <a:ext cx="3278878" cy="772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defRPr>
            </a:lvl1pPr>
            <a:lvl2pPr marL="7429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2pPr>
            <a:lvl3pPr marL="1200150" indent="-2857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3pPr>
            <a:lvl4pPr marL="1543050" indent="-1714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4pPr>
            <a:lvl5pPr marL="2000250" indent="-171450" algn="l" rtl="0" eaLnBrk="1" fontAlgn="base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Geneva" charset="0"/>
                <a:cs typeface="Aptos" panose="020B00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kern="0" dirty="0"/>
              <a:t>You’re encouraged to create a new Page in your Canvas instance where we can play and make a mess.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3FC8E-508D-0D15-26B1-48F3F7094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52B02-A767-246E-316C-3CE198A7F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589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2C16-F149-CEFE-DEB7-CF1AB1BA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Accessibility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87E6-D0C9-EE02-3725-60EA8E53A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651"/>
            <a:ext cx="6688318" cy="59847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We will be looking at the course accessibility score and dashboard in Canvas as well. </a:t>
            </a:r>
          </a:p>
        </p:txBody>
      </p:sp>
      <p:pic>
        <p:nvPicPr>
          <p:cNvPr id="6" name="Picture 5" descr="Canvas course accessibility dashboard. ">
            <a:extLst>
              <a:ext uri="{FF2B5EF4-FFF2-40B4-BE49-F238E27FC236}">
                <a16:creationId xmlns:a16="http://schemas.microsoft.com/office/drawing/2014/main" id="{C9FBF324-A41C-B742-1C3F-5E14DFA44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097" y="1954736"/>
            <a:ext cx="5065226" cy="267428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00764-E65A-254B-E8EE-B2553A1AD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1CF09-3EF0-ACB2-5BD9-4387A604C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15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FE1A7E8-C7B5-44EC-9BC8-835E5E2CB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26499"/>
            <a:ext cx="2740461" cy="871538"/>
          </a:xfrm>
        </p:spPr>
        <p:txBody>
          <a:bodyPr/>
          <a:lstStyle/>
          <a:p>
            <a:r>
              <a:rPr lang="en-US" dirty="0"/>
              <a:t>Website reference resource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2B6F8D-EFC2-EF8C-A19C-48346010E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237451"/>
            <a:ext cx="2674756" cy="335775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In addition to this deck, a website is available to you that is a 1:1 match of the content in this workshop complete with: 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The sample files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Explanations of the tests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Shortcomings of Ally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Impact on students with disabilities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Example outputs from screen readers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dirty="0"/>
              <a:t>Step-by-step guides on how to fix issues as shown here today</a:t>
            </a:r>
          </a:p>
        </p:txBody>
      </p:sp>
      <p:pic>
        <p:nvPicPr>
          <p:cNvPr id="7" name="Picture 6" descr="The text alternatives section of the resource website. ">
            <a:extLst>
              <a:ext uri="{FF2B5EF4-FFF2-40B4-BE49-F238E27FC236}">
                <a16:creationId xmlns:a16="http://schemas.microsoft.com/office/drawing/2014/main" id="{8AE0D27C-8F9E-678F-26B9-FC94FBAD4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941" y="403053"/>
            <a:ext cx="4496393" cy="424765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F3281-BAE6-1874-63A0-CD9781400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25B3A-A49D-5C75-332A-C86B79AAC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76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E988-B804-827D-5B6D-749B91ED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– Getting help in real-time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CAAE-94F4-02BB-FD30-5906C28B4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Hopefully, someone can monitor the chat. </a:t>
            </a:r>
          </a:p>
          <a:p>
            <a:r>
              <a:rPr lang="en-US" sz="1600" dirty="0"/>
              <a:t>You have deck and the website resource as well.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11AF40-9C5C-1724-A0DD-CF1D19FF3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A1EED-240D-4B38-4D80-F904C04A8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0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88381-5043-0F82-F348-A753A3C2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AAB51F-E756-05C1-883F-D2E7C02B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1534"/>
            <a:ext cx="7018256" cy="1001598"/>
          </a:xfrm>
        </p:spPr>
        <p:txBody>
          <a:bodyPr/>
          <a:lstStyle/>
          <a:p>
            <a:r>
              <a:rPr lang="en-US"/>
              <a:t>Section three: Scope of the challenge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8CB620E-9D71-6296-F360-C981619D3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72129"/>
            <a:ext cx="7018256" cy="910436"/>
          </a:xfrm>
        </p:spPr>
        <p:txBody>
          <a:bodyPr/>
          <a:lstStyle/>
          <a:p>
            <a:r>
              <a:rPr lang="en-US"/>
              <a:t>The scope and limitations of automated testing. 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8FC313-82A6-29FB-2699-B27759DEF0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</p:spPr>
        <p:txBody>
          <a:bodyPr/>
          <a:lstStyle/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51A405-75B4-BD67-179B-5A425169E3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3436782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53346-FF02-4292-6F95-8E3952AE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C02F8-B44B-18C6-D348-B3475E80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in section three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3FE34-3AE3-D288-2B05-BDBFEC947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come.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What is Ally actually testing? 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What is it missing? 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What is it getting wrong (false positives)?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 err="1"/>
              <a:t>Tractibility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C5E37-1366-5AC6-1728-7B93BC926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C7CF9-95E3-1139-536B-865716B78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23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C4FB-A0C2-4383-284E-A78ED0B8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Ally actually testing?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7050CDB-B8FE-C1CB-93A8-7C30A14BE8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708613"/>
              </p:ext>
            </p:extLst>
          </p:nvPr>
        </p:nvGraphicFramePr>
        <p:xfrm>
          <a:off x="457199" y="1382581"/>
          <a:ext cx="4547361" cy="2651761"/>
        </p:xfrm>
        <a:graphic>
          <a:graphicData uri="http://schemas.openxmlformats.org/drawingml/2006/table">
            <a:tbl>
              <a:tblPr firstRow="1" lastRow="1">
                <a:tableStyleId>{21E4AEA4-8DFA-4A89-87EB-49C32662AFE0}</a:tableStyleId>
              </a:tblPr>
              <a:tblGrid>
                <a:gridCol w="2899251">
                  <a:extLst>
                    <a:ext uri="{9D8B030D-6E8A-4147-A177-3AD203B41FA5}">
                      <a16:colId xmlns:a16="http://schemas.microsoft.com/office/drawing/2014/main" val="4006713185"/>
                    </a:ext>
                  </a:extLst>
                </a:gridCol>
                <a:gridCol w="1648110">
                  <a:extLst>
                    <a:ext uri="{9D8B030D-6E8A-4147-A177-3AD203B41FA5}">
                      <a16:colId xmlns:a16="http://schemas.microsoft.com/office/drawing/2014/main" val="1913240377"/>
                    </a:ext>
                  </a:extLst>
                </a:gridCol>
              </a:tblGrid>
              <a:tr h="378823">
                <a:tc>
                  <a:txBody>
                    <a:bodyPr/>
                    <a:lstStyle/>
                    <a:p>
                      <a:r>
                        <a:rPr lang="en-US" sz="1400" dirty="0"/>
                        <a:t>Content type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 of tests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28831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Rich content editor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770673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Image files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05985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PDF documents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1833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Word documents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215980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PowerPoint presentations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911412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592926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43CB75-55A6-3B96-2AD8-C9DC647337FB}"/>
              </a:ext>
            </a:extLst>
          </p:cNvPr>
          <p:cNvSpPr txBox="1"/>
          <p:nvPr/>
        </p:nvSpPr>
        <p:spPr>
          <a:xfrm>
            <a:off x="399707" y="4155866"/>
            <a:ext cx="5135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Source: </a:t>
            </a:r>
            <a:r>
              <a:rPr lang="en-US" sz="1200" dirty="0">
                <a:latin typeface="Aptos" panose="020B0004020202020204" pitchFamily="34" charset="0"/>
                <a:hlinkClick r:id="rId2"/>
              </a:rPr>
              <a:t>Anthology help accessibility checklist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88103-A921-B16A-9FB6-43677C881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28C26-3F12-E43D-5454-72C28C52E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33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E80D-A879-5D1A-2981-4F879FAB4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missing – alt text use case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EC4A092-E525-C749-18FA-98E14ECAAD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3813981"/>
              </p:ext>
            </p:extLst>
          </p:nvPr>
        </p:nvGraphicFramePr>
        <p:xfrm>
          <a:off x="454460" y="1336008"/>
          <a:ext cx="6852636" cy="3326516"/>
        </p:xfrm>
        <a:graphic>
          <a:graphicData uri="http://schemas.openxmlformats.org/drawingml/2006/table">
            <a:tbl>
              <a:tblPr firstRow="1" firstCol="1">
                <a:tableStyleId>{91EBBBCC-DAD2-459C-BE2E-F6DE35CF9A28}</a:tableStyleId>
              </a:tblPr>
              <a:tblGrid>
                <a:gridCol w="2682972">
                  <a:extLst>
                    <a:ext uri="{9D8B030D-6E8A-4147-A177-3AD203B41FA5}">
                      <a16:colId xmlns:a16="http://schemas.microsoft.com/office/drawing/2014/main" val="164509687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507284935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939605529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3684929455"/>
                    </a:ext>
                  </a:extLst>
                </a:gridCol>
              </a:tblGrid>
              <a:tr h="400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Type of test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950" marR="31510" marT="17506" marB="1750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Ally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95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MS Office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95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Acrobat</a:t>
                      </a:r>
                      <a:endParaRPr lang="en-US" sz="1200" b="1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95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299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No text alternative</a:t>
                      </a:r>
                      <a:endParaRPr lang="en-US" sz="1200" b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1510" marR="31510" marT="17506" marB="17506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ymbol" pitchFamily="2" charset="2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ymbol" pitchFamily="2" charset="2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ymbol" pitchFamily="2" charset="2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0483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AI-generated text alternative</a:t>
                      </a:r>
                      <a:endParaRPr lang="en-US" sz="1200" b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1510" marR="31510" marT="17506" marB="17506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ymbol" pitchFamily="2" charset="2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0106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Should be decorative (divider line)</a:t>
                      </a:r>
                      <a:endParaRPr lang="en-US" sz="1200" b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1510" marR="31510" marT="17506" marB="17506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8890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Vague alt text (2026 sales chart)</a:t>
                      </a:r>
                      <a:endParaRPr lang="en-US" sz="1200" b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1510" marR="31510" marT="17506" marB="17506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8391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Dense alt text (&gt;120 char)</a:t>
                      </a:r>
                      <a:endParaRPr lang="en-US" sz="1200" b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1510" marR="31510" marT="17506" marB="17506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effectLst/>
                        </a:rPr>
                        <a:t>False positive</a:t>
                      </a:r>
                      <a:endParaRPr lang="en-US" sz="1200" dirty="0">
                        <a:solidFill>
                          <a:schemeClr val="accent2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n/a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n/a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2938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File name as alt text (</a:t>
                      </a:r>
                      <a:r>
                        <a:rPr lang="en-US" sz="1200" b="0" dirty="0" err="1">
                          <a:effectLst/>
                        </a:rPr>
                        <a:t>logo.png</a:t>
                      </a:r>
                      <a:r>
                        <a:rPr lang="en-US" sz="1200" b="0" dirty="0">
                          <a:effectLst/>
                        </a:rPr>
                        <a:t>)</a:t>
                      </a:r>
                      <a:endParaRPr lang="en-US" sz="1200" b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1510" marR="31510" marT="17506" marB="17506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ymbol" pitchFamily="2" charset="2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ymbol" pitchFamily="2" charset="2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2266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Gibberish (</a:t>
                      </a:r>
                      <a:r>
                        <a:rPr lang="en-US" sz="1200" b="0" dirty="0" err="1">
                          <a:effectLst/>
                        </a:rPr>
                        <a:t>alskjshdsflh</a:t>
                      </a:r>
                      <a:r>
                        <a:rPr lang="en-US" sz="1200" b="0" dirty="0">
                          <a:effectLst/>
                        </a:rPr>
                        <a:t>)</a:t>
                      </a:r>
                      <a:endParaRPr lang="en-US" sz="1200" b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1510" marR="31510" marT="17506" marB="17506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1970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Placeholder (image)</a:t>
                      </a:r>
                      <a:endParaRPr lang="en-US" sz="1200" b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1510" marR="31510" marT="17506" marB="17506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31510" marR="31510" marT="17506" marB="1750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96921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DECFA-E7C1-8E11-4157-0FF73505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B9985-DA6D-87D4-4E4A-B25AD2610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5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8BAEC-E131-A16B-7832-66A75050D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CACE-17C9-0005-989F-147D3E0B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False positives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B73978-14D9-BC04-17B0-F8C05D370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6709" y="1251987"/>
            <a:ext cx="1654091" cy="21044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395F9-8B4A-C8EF-45C6-3F3C8DC61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60278-CF6D-7C03-10AB-F0383BF6D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5CA59-5E36-DD1E-77E0-487AA20B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283" y="1253702"/>
            <a:ext cx="1856609" cy="2975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06EACD-32F6-E791-25D2-D3ACBBE36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86" y="3025448"/>
            <a:ext cx="4504926" cy="187928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4824FD-E4CC-2529-7A61-6B5E6017C5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762"/>
            <a:ext cx="7772400" cy="292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73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F26C1-3049-C19C-890F-48D260786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F886D-BDEA-B46B-0CD0-6F5E92094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they exceed expectation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D16C0-219B-2B13-F9C8-7FB7D8870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5125F-AB5E-D968-DA21-594B176B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35A44-C305-D27F-A6DB-097D72D67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55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DD75-D63C-A08A-BB6E-B0A70296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1556B-0D4B-D7B1-AEF4-64CA6062C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277B7-A400-1624-CDD2-D5ABC9529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01784-0750-DFCA-FC8C-0F381D28C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4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1185-5AEE-C3D9-09CA-AB6E155F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1281D90-613C-A266-2FA1-6A09DAC1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1534"/>
            <a:ext cx="7018256" cy="1001598"/>
          </a:xfrm>
        </p:spPr>
        <p:txBody>
          <a:bodyPr/>
          <a:lstStyle/>
          <a:p>
            <a:r>
              <a:rPr lang="en-US"/>
              <a:t>Section three: Scope of the challenge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C54BCFD-2325-A6E8-4DC5-BA83DB83F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72129"/>
            <a:ext cx="7018256" cy="910436"/>
          </a:xfrm>
        </p:spPr>
        <p:txBody>
          <a:bodyPr/>
          <a:lstStyle/>
          <a:p>
            <a:r>
              <a:rPr lang="en-US"/>
              <a:t>The scope and limitations of automated testing. 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FF0142-9287-7B22-D26F-916E75CF5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4767263"/>
            <a:ext cx="6490356" cy="274637"/>
          </a:xfrm>
        </p:spPr>
        <p:txBody>
          <a:bodyPr/>
          <a:lstStyle/>
          <a:p>
            <a:r>
              <a:rPr lang="en-US" dirty="0"/>
              <a:t>Getting to 100: Fixing Your Anthology Ally Errors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735DF0-D902-4D70-F214-883AFEA714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2950796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AB0C1-6F82-360E-4808-1BE4F220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5C3C-FBAF-790C-D495-898FAD3B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in section three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BBAAE-81D2-6896-6A7D-3599DBD9E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come.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What is Ally actually testing? 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What is it missing? </a:t>
            </a:r>
          </a:p>
          <a:p>
            <a:pPr marL="625475" lvl="1" indent="-342900">
              <a:buFont typeface="+mj-lt"/>
              <a:buAutoNum type="arabicPeriod"/>
            </a:pPr>
            <a:r>
              <a:rPr lang="en-US" dirty="0"/>
              <a:t>What is it getting wrong (false positives)?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862F5-4ABC-D775-A9FA-0CE8CC5AB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Getting to 100: Fixing Your Anthology Ally Errors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16CA2-8D94-C976-D306-EBCC79A10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72577-C5EA-2248-880D-8FE657DD82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2066"/>
      </p:ext>
    </p:extLst>
  </p:cSld>
  <p:clrMapOvr>
    <a:masterClrMapping/>
  </p:clrMapOvr>
</p:sld>
</file>

<file path=ppt/theme/theme1.xml><?xml version="1.0" encoding="utf-8"?>
<a:theme xmlns:a="http://schemas.openxmlformats.org/drawingml/2006/main" name="1_RU_template_FASN_16x9 widescree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3F3EF"/>
      </a:accent1>
      <a:accent2>
        <a:srgbClr val="CC0033"/>
      </a:accent2>
      <a:accent3>
        <a:srgbClr val="00626D"/>
      </a:accent3>
      <a:accent4>
        <a:srgbClr val="666666"/>
      </a:accent4>
      <a:accent5>
        <a:srgbClr val="007FAB"/>
      </a:accent5>
      <a:accent6>
        <a:srgbClr val="EBB600"/>
      </a:accent6>
      <a:hlink>
        <a:srgbClr val="0000D7"/>
      </a:hlink>
      <a:folHlink>
        <a:srgbClr val="99CC00"/>
      </a:folHlink>
    </a:clrScheme>
    <a:fontScheme name="RU_Template_Verdana_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U_Template_Verdana_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RU_template_CCAS_16;9" id="{DD4A8B92-6D83-094F-956C-CEF9C024824F}" vid="{1B19C7C8-82CB-E54C-94DC-BFAC1FBCEE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698CD8A0156A478DE0CE5807392D45" ma:contentTypeVersion="15" ma:contentTypeDescription="Create a new document." ma:contentTypeScope="" ma:versionID="e956de3bc8ed0fdda30dec3de66f80de">
  <xsd:schema xmlns:xsd="http://www.w3.org/2001/XMLSchema" xmlns:xs="http://www.w3.org/2001/XMLSchema" xmlns:p="http://schemas.microsoft.com/office/2006/metadata/properties" xmlns:ns2="5d92d4c6-b949-4044-83d2-b3b09467276d" xmlns:ns3="f9ce0dfa-68e7-4e82-ad64-6f7fa7e3fe98" targetNamespace="http://schemas.microsoft.com/office/2006/metadata/properties" ma:root="true" ma:fieldsID="f49bc6e5e0104b82c3a43cbdfb8d7f7b" ns2:_="" ns3:_="">
    <xsd:import namespace="5d92d4c6-b949-4044-83d2-b3b09467276d"/>
    <xsd:import namespace="f9ce0dfa-68e7-4e82-ad64-6f7fa7e3fe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2d4c6-b949-4044-83d2-b3b0946727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8fd182-3af3-4b45-858c-95346ee1bc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e0dfa-68e7-4e82-ad64-6f7fa7e3fe9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094eda62-a0af-4c89-8e09-df05f580802a}" ma:internalName="TaxCatchAll" ma:showField="CatchAllData" ma:web="f9ce0dfa-68e7-4e82-ad64-6f7fa7e3fe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ce0dfa-68e7-4e82-ad64-6f7fa7e3fe98" xsi:nil="true"/>
    <lcf76f155ced4ddcb4097134ff3c332f xmlns="5d92d4c6-b949-4044-83d2-b3b09467276d">
      <Terms xmlns="http://schemas.microsoft.com/office/infopath/2007/PartnerControls"/>
    </lcf76f155ced4ddcb4097134ff3c332f>
    <SharedWithUsers xmlns="f9ce0dfa-68e7-4e82-ad64-6f7fa7e3fe98">
      <UserInfo>
        <DisplayName>Jennifer Jacobus</DisplayName>
        <AccountId>69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B793142-75E1-4EAA-8F3D-0EAFB138F1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1FBAC5-EAB8-4F83-8F08-F3586FD1B5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92d4c6-b949-4044-83d2-b3b09467276d"/>
    <ds:schemaRef ds:uri="f9ce0dfa-68e7-4e82-ad64-6f7fa7e3fe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421DE5-31C6-4E6F-861C-F884D3F7D4A1}">
  <ds:schemaRefs>
    <ds:schemaRef ds:uri="http://purl.org/dc/terms/"/>
    <ds:schemaRef ds:uri="http://www.w3.org/XML/1998/namespace"/>
    <ds:schemaRef ds:uri="5d92d4c6-b949-4044-83d2-b3b09467276d"/>
    <ds:schemaRef ds:uri="http://purl.org/dc/dcmitype/"/>
    <ds:schemaRef ds:uri="http://schemas.microsoft.com/office/2006/metadata/properties"/>
    <ds:schemaRef ds:uri="f9ce0dfa-68e7-4e82-ad64-6f7fa7e3fe98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2977</TotalTime>
  <Words>1102</Words>
  <Application>Microsoft Macintosh PowerPoint</Application>
  <PresentationFormat>On-screen Show (16:9)</PresentationFormat>
  <Paragraphs>204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Symbol</vt:lpstr>
      <vt:lpstr>1_RU_template_FASN_16x9 widescreen</vt:lpstr>
      <vt:lpstr>Getting to 100: Fixing Your Anthology Ally Errors</vt:lpstr>
      <vt:lpstr>Agenda</vt:lpstr>
      <vt:lpstr>Section one: Presenter introduction</vt:lpstr>
      <vt:lpstr>Covered in section one</vt:lpstr>
      <vt:lpstr>Work history</vt:lpstr>
      <vt:lpstr>Credentials</vt:lpstr>
      <vt:lpstr>Background in accessibility</vt:lpstr>
      <vt:lpstr>Two important highlights</vt:lpstr>
      <vt:lpstr>Section two: Workshop structure</vt:lpstr>
      <vt:lpstr>Covered in section two</vt:lpstr>
      <vt:lpstr>Sample files</vt:lpstr>
      <vt:lpstr>Following along Canvas</vt:lpstr>
      <vt:lpstr>Accessibility dashboard</vt:lpstr>
      <vt:lpstr>Website reference resource</vt:lpstr>
      <vt:lpstr>DRAFT – Getting help in real-time</vt:lpstr>
      <vt:lpstr>Section three: Scope of the challenge</vt:lpstr>
      <vt:lpstr>Covered in section three</vt:lpstr>
      <vt:lpstr>What is Ally actually testing?</vt:lpstr>
      <vt:lpstr>What’s missing – alt text use case</vt:lpstr>
      <vt:lpstr>False positives</vt:lpstr>
      <vt:lpstr>Where they exceed expectation</vt:lpstr>
      <vt:lpstr>Tractability</vt:lpstr>
      <vt:lpstr>Section three: Scope of the challenge</vt:lpstr>
      <vt:lpstr>Covered in section three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eburris</dc:creator>
  <cp:lastModifiedBy>Damian Sian</cp:lastModifiedBy>
  <cp:revision>187</cp:revision>
  <cp:lastPrinted>2019-07-16T15:38:20Z</cp:lastPrinted>
  <dcterms:created xsi:type="dcterms:W3CDTF">2012-05-15T15:26:04Z</dcterms:created>
  <dcterms:modified xsi:type="dcterms:W3CDTF">2026-02-28T21:33:20Z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0x01010053698CD8A0156A478DE0CE5807392D45</vt:lpwstr>
  </property>
  <property fmtid="{D5CDD505-2E9C-101B-9397-08002B2CF9AE}" pid="3" name="MediaServiceImageTags">
    <vt:lpwstr/>
  </property>
</Properties>
</file>