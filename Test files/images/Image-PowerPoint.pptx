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7" r:id="rId2"/>
    <p:sldId id="258" r:id="rId3"/>
    <p:sldId id="259" r:id="rId4"/>
    <p:sldId id="260" r:id="rId5"/>
    <p:sldId id="264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670"/>
    <p:restoredTop sz="94686"/>
  </p:normalViewPr>
  <p:slideViewPr>
    <p:cSldViewPr snapToGrid="0">
      <p:cViewPr varScale="1">
        <p:scale>
          <a:sx n="176" d="100"/>
          <a:sy n="176" d="100"/>
        </p:scale>
        <p:origin x="528" y="4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90E82-B582-0F4E-B2B3-2D64CFCFBDC7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04191A-9A8A-8845-9F9D-290305B59B8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5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2985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42ED2-9738-A010-2718-E197FE3990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BD5CC7B-106A-F3A4-63C8-7C66DFB384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95A59F-FA75-FAF6-A02E-F9421D6DD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1FC0E5-78E8-46B6-A9E3-8F0A3B22AA9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04191A-9A8A-8845-9F9D-290305B59B8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673182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97376F-2D97-6933-3213-D18D6B29C5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ED932A-E1F3-C211-EBF1-E04428197F6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462B1-C74B-8A3A-C2BA-B7DCCEA108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A9D2883-B52D-A983-34DB-C8A769AF2C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17D07C-BA79-04F5-4C02-DDCCA58C9E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95517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205C82-1CC3-AC31-E3EF-3F3332F18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CA12E9-6CC6-7DC1-FB69-024FDA66733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22B81-DBAF-710E-09E0-62ADE8CBDD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4BC3CD-1AC2-93CA-EA97-E6C0162F54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06360A-832C-0FB2-73CC-D9BB5B8BB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538405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30069-965B-FC3E-C472-F8B56E5C50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33BCC6-8485-2AC6-E86D-3B2A2A14405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D1571A-05B2-E867-C34C-252D2EEDFA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9F6E18-5177-3066-F056-97A41D440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C96FF5-C79E-9593-22CE-7D054F3F06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52394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617ECF-CBE3-31EB-B257-262D3B380F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BCEC65-CABE-D21C-82D9-668597DACA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C0E477-1597-A66E-7686-45EA80D735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612B7F-3908-8D67-4F34-0A68FFC897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7D5CB9-07F7-4338-4EC5-7CF68C8DC9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1B9F6-BAD6-7A4E-B5F1-4E691B83A3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4086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62F454-10F6-5770-7E7F-E42ED16031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523455-B40D-EDC6-AA9D-6B7091F785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53CCC01-6101-C285-06A2-A777C283F2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9F74A6-FAB5-113F-E770-E6FB93A920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85FEE5F-F466-8180-7B3A-5D96E323BD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82BBE5D-8DD3-CD4C-608C-8E55EE674E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062BA3A-99A0-FA63-34C1-2F97E910F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6C5EFD8-024D-EF7F-AD4B-32E93CD35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7830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9D0AE0-C975-BD3B-A2A3-510DE88DDC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51576A1-3776-CE4D-31B1-91A6B17623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E3A433-52F1-D345-D108-ADFF1723C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1568C35-D622-203F-B599-5F4637C6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25995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37DEAB3-BC18-6BAA-4B89-81707AC00F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A4C35B4-A12C-ABC0-DADB-CBB201B237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E75B3F-640B-5A12-B347-B9DCE65865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95447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52A9A-756C-83FE-77A8-E688DC161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40373-0E3E-82DC-5106-472AFC65F2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3A9C73D-3B2B-7032-EE97-E7B702B4D0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2991D2-5635-CAC5-64C6-9A59ECA40C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059E87-BC6A-3B28-9803-6ABFD3B802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A066257-5491-B38B-518F-4F72B8436A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363534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8A44DB-11FA-D952-7D77-BE5C8882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9E33AEA-F37E-45A9-0E64-4D95FA1E0F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C14E053-4DA5-068D-3039-5EF0AF62ED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922219-5A51-9D04-D782-155E2FA64B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2F794D-5F01-2983-2071-A8E500C507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82E7E5-0CAA-B92C-5412-45A94E18D9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1954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032B0D-22AC-87C5-5B46-0F716A484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EDE12D-0058-35B6-25E0-3D3C72C49F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ADACE2-5F78-C172-F3B2-D5B495B2B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AFF2F7-D5C2-7F65-2B55-B85670FB18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6F9E99-7000-729F-9201-349AC3D75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603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37EB893-5287-983B-E521-658E9755733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9934CDB-E575-88E5-DA94-AB3609D5FAF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39D7FA3-36A5-F008-5C10-B57CD7EB8A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B024CCC-F7C3-03C7-1E7D-8984E15DC3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70AA96-5BE6-B4FC-269D-F3A97E19DE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16681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1AE515B-60CE-BCD6-D7F7-D0B1D1ECEF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C281D3E-3945-75B6-E283-8A13E14297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33CFAD3-194D-45F8-7C72-05673488730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4DC69A-EA2F-A746-8DAA-A22638E842CE}" type="datetimeFigureOut">
              <a:rPr lang="en-US" smtClean="0"/>
              <a:t>2/16/26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EAAED0-C625-8FAA-B64A-B143BD63F3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50A21-9FBC-667E-3E50-2DFD7891D77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525C55-B235-024E-9B59-8C70078C5D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0871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B1F76E-1B98-69F4-41A6-11E41140A2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No text alternative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24356C-10C2-6B40-7689-9A2589898C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325094" cy="1263564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There is no alt text for this image. </a:t>
            </a:r>
          </a:p>
          <a:p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29B8BA5E-7E44-A0D1-4A70-A8B828DA19D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87008" y="1776033"/>
            <a:ext cx="3564604" cy="942454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7594BD4F-47B6-C19F-EF94-D08A9CD1961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0325249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963694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4A0ACE-6316-7483-4F1E-9DA88BDFC0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0CE1CD-B8FD-A046-A589-0F28555247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AI-generated text alternative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289B50-2125-F969-620B-A883AA50C7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MS Word guessed the text alternative as “A black background with white text. AI-generated content may be incorrect.”</a:t>
            </a:r>
          </a:p>
          <a:p>
            <a:endParaRPr lang="en-US" dirty="0"/>
          </a:p>
        </p:txBody>
      </p:sp>
      <p:pic>
        <p:nvPicPr>
          <p:cNvPr id="5" name="Picture 4" descr="A black background with white text&#10;&#10;AI-generated content may be incorrect.">
            <a:extLst>
              <a:ext uri="{FF2B5EF4-FFF2-40B4-BE49-F238E27FC236}">
                <a16:creationId xmlns:a16="http://schemas.microsoft.com/office/drawing/2014/main" id="{C8F80D74-DDD8-0E70-86FC-F137C3EA401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1187" y="1964328"/>
            <a:ext cx="3458318" cy="914795"/>
          </a:xfrm>
          <a:prstGeom prst="rect">
            <a:avLst/>
          </a:prstGeom>
        </p:spPr>
      </p:pic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D097625-E068-0759-30BD-65B8C3FB2B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5952587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780282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CEC2C-0681-7280-0B78-6EEF1B59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9ECC-FE96-D7EE-8A20-C92F4E94E9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Should be decorative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292DA3-D287-342F-400A-2EB41D1880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This decorative non-text content should be marked decorative, but it has a text alternative instead.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0DD8AFA2-F466-1CCF-5191-1E7EAF9EFB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4814014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300" kern="100" dirty="0">
                          <a:effectLst/>
                        </a:rPr>
                        <a:t>Not </a:t>
                      </a:r>
                      <a:r>
                        <a:rPr lang="en-US" sz="2300" kern="100" dirty="0">
                          <a:effectLst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sp>
        <p:nvSpPr>
          <p:cNvPr id="4" name="Rectangle 3" descr="Red separator bar. ">
            <a:extLst>
              <a:ext uri="{FF2B5EF4-FFF2-40B4-BE49-F238E27FC236}">
                <a16:creationId xmlns:a16="http://schemas.microsoft.com/office/drawing/2014/main" id="{A0A53FB2-C801-505E-6CAE-9A829D7F8E0A}"/>
              </a:ext>
            </a:extLst>
          </p:cNvPr>
          <p:cNvSpPr/>
          <p:nvPr/>
        </p:nvSpPr>
        <p:spPr>
          <a:xfrm>
            <a:off x="6376086" y="2056713"/>
            <a:ext cx="5140411" cy="130433"/>
          </a:xfrm>
          <a:prstGeom prst="rect">
            <a:avLst/>
          </a:prstGeom>
          <a:solidFill>
            <a:srgbClr val="CC003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63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0BA1A-A634-B41B-DFF1-50AC1E41A4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FA19B-E128-B951-DE71-8E4FE9065E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Poorly constructed text alternative: vague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FB9504-759E-3497-2FC1-A592FFB304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5421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just reads “quiz averages.”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4F7D5C41-4403-F8E6-36E8-934F0957558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59670945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693D75F0-3072-772C-6496-08995178996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0569" y="1626914"/>
            <a:ext cx="63246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2494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22FF75-02E8-69FC-28A5-B5D8230B9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606803-05E0-C017-CA86-9F43A6697A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Dense alt text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E59D68-451B-DAA3-CEC5-E50C7FC038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415421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just reads “Grouped bar graph comparing Quiz 1 and Quiz 2 averages across three sections. Section 1: 85% and 82%. Section 2: 83% and 81%. Section 3: 85% and 82%.”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CB4F201A-A69F-9839-947D-9D38E4CBA3D7}"/>
              </a:ext>
            </a:extLst>
          </p:cNvPr>
          <p:cNvGraphicFramePr>
            <a:graphicFrameLocks noGrp="1"/>
          </p:cNvGraphicFramePr>
          <p:nvPr/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6" name="Picture 5" descr="Grouped bar graph comparing Quiz 1 and Quiz 2 averages across three sections. Section 1: 85% and 82%. Section 2: 83% and 81%. Section 3: 85% and 82%.">
            <a:extLst>
              <a:ext uri="{FF2B5EF4-FFF2-40B4-BE49-F238E27FC236}">
                <a16:creationId xmlns:a16="http://schemas.microsoft.com/office/drawing/2014/main" id="{4E3C914D-C4DF-6B7F-D88F-1C8F5541EE3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340569" y="1626914"/>
            <a:ext cx="6324600" cy="3225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1139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D8EC60-BCC6-F229-D4D8-417BAFC4B3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D95EC3-0380-0BE8-2D67-B206ED8E78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inaccurate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B57FA9-A70D-BF22-D514-3E507CC9E2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</a:t>
            </a:r>
            <a:r>
              <a:rPr lang="en-US" sz="2400" dirty="0" err="1"/>
              <a:t>RSUNJ_H_RED_BLACK_RGB.png</a:t>
            </a:r>
            <a:r>
              <a:rPr lang="en-US" dirty="0"/>
              <a:t>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BBC0CCB4-1918-8EEB-B253-8F530796EF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09673361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RSUNJ_H_RED_BLACK_RGB.png">
            <a:extLst>
              <a:ext uri="{FF2B5EF4-FFF2-40B4-BE49-F238E27FC236}">
                <a16:creationId xmlns:a16="http://schemas.microsoft.com/office/drawing/2014/main" id="{DAB54F03-51EE-7512-93E2-B437D3B611A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16375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7014D3-5673-933E-A7F8-29C2D795B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0D2E95-1B0D-B9AF-E31B-87919B3E62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gibberish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0EC3BB-0D96-CEEA-4F56-C277DD394C4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</a:t>
            </a:r>
            <a:r>
              <a:rPr lang="en-US" dirty="0" err="1"/>
              <a:t>asldkfjasdlfkj</a:t>
            </a:r>
            <a:r>
              <a:rPr lang="en-US" dirty="0"/>
              <a:t>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F9720D3-9091-55A0-90DD-CEA7A0D2DD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563960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asldkfjasdlfkj">
            <a:extLst>
              <a:ext uri="{FF2B5EF4-FFF2-40B4-BE49-F238E27FC236}">
                <a16:creationId xmlns:a16="http://schemas.microsoft.com/office/drawing/2014/main" id="{8745A873-1CBB-7251-F4B5-D2F79AEFA7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1761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9BD07-1D5D-CC42-CBF1-7815B6C63C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518AE6-E43F-1DB7-5930-33DD4C9492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Poorly constructed text alternative: placeholder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1CECA-525D-2661-F54A-DB2967EFC1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5325094" cy="325300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text alternative here is just the file name “image.” </a:t>
            </a:r>
          </a:p>
        </p:txBody>
      </p:sp>
      <p:graphicFrame>
        <p:nvGraphicFramePr>
          <p:cNvPr id="20" name="Table 19">
            <a:extLst>
              <a:ext uri="{FF2B5EF4-FFF2-40B4-BE49-F238E27FC236}">
                <a16:creationId xmlns:a16="http://schemas.microsoft.com/office/drawing/2014/main" id="{D1C4F358-F2E8-384F-7205-D428023C263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7830095"/>
              </p:ext>
            </p:extLst>
          </p:nvPr>
        </p:nvGraphicFramePr>
        <p:xfrm>
          <a:off x="810440" y="5354380"/>
          <a:ext cx="7518573" cy="1169544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713924">
                  <a:extLst>
                    <a:ext uri="{9D8B030D-6E8A-4147-A177-3AD203B41FA5}">
                      <a16:colId xmlns:a16="http://schemas.microsoft.com/office/drawing/2014/main" val="2587052964"/>
                    </a:ext>
                  </a:extLst>
                </a:gridCol>
                <a:gridCol w="2794831">
                  <a:extLst>
                    <a:ext uri="{9D8B030D-6E8A-4147-A177-3AD203B41FA5}">
                      <a16:colId xmlns:a16="http://schemas.microsoft.com/office/drawing/2014/main" val="1997474820"/>
                    </a:ext>
                  </a:extLst>
                </a:gridCol>
                <a:gridCol w="3009818">
                  <a:extLst>
                    <a:ext uri="{9D8B030D-6E8A-4147-A177-3AD203B41FA5}">
                      <a16:colId xmlns:a16="http://schemas.microsoft.com/office/drawing/2014/main" val="123640046"/>
                    </a:ext>
                  </a:extLst>
                </a:gridCol>
              </a:tblGrid>
              <a:tr h="771564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 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A11y automated checker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 dirty="0">
                          <a:effectLst/>
                        </a:rPr>
                        <a:t>MS Accessibility checker</a:t>
                      </a:r>
                      <a:endParaRPr lang="en-US" sz="2300" kern="100" dirty="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2904024515"/>
                  </a:ext>
                </a:extLst>
              </a:tr>
              <a:tr h="376109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2300" kern="100">
                          <a:effectLst/>
                        </a:rPr>
                        <a:t>Result</a:t>
                      </a:r>
                      <a:endParaRPr lang="en-US" sz="2300" kern="100"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  <a:endParaRPr kumimoji="0" lang="en-US" sz="2300" b="0" i="0" u="none" strike="noStrike" kern="1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128992" marR="128992" marT="0" marB="0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80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110004020202020204"/>
                          <a:ea typeface="+mn-ea"/>
                          <a:cs typeface="+mn-cs"/>
                        </a:rPr>
                        <a:t>Not </a:t>
                      </a:r>
                      <a:r>
                        <a:rPr kumimoji="0" lang="en-US" sz="2300" b="0" i="0" u="none" strike="noStrike" kern="1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Aptos" panose="020B0004020202020204" pitchFamily="34" charset="0"/>
                          <a:ea typeface="Aptos" panose="020B0004020202020204" pitchFamily="34" charset="0"/>
                          <a:cs typeface="Times New Roman" panose="02020603050405020304" pitchFamily="18" charset="0"/>
                        </a:rPr>
                        <a:t>Detected</a:t>
                      </a:r>
                    </a:p>
                  </a:txBody>
                  <a:tcPr marL="128992" marR="128992" marT="0" marB="0"/>
                </a:tc>
                <a:extLst>
                  <a:ext uri="{0D108BD9-81ED-4DB2-BD59-A6C34878D82A}">
                    <a16:rowId xmlns:a16="http://schemas.microsoft.com/office/drawing/2014/main" val="4046348799"/>
                  </a:ext>
                </a:extLst>
              </a:tr>
            </a:tbl>
          </a:graphicData>
        </a:graphic>
      </p:graphicFrame>
      <p:pic>
        <p:nvPicPr>
          <p:cNvPr id="4" name="Picture 3" descr="asldkfjasdlfkj">
            <a:extLst>
              <a:ext uri="{FF2B5EF4-FFF2-40B4-BE49-F238E27FC236}">
                <a16:creationId xmlns:a16="http://schemas.microsoft.com/office/drawing/2014/main" id="{614A7864-5CF9-526C-0895-3B0EE86DD34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48270" y="1953509"/>
            <a:ext cx="3872969" cy="10244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753644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424</TotalTime>
  <Words>277</Words>
  <Application>Microsoft Macintosh PowerPoint</Application>
  <PresentationFormat>Widescreen</PresentationFormat>
  <Paragraphs>66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No text alternative</vt:lpstr>
      <vt:lpstr>AI-generated text alternative</vt:lpstr>
      <vt:lpstr>Should be decorative</vt:lpstr>
      <vt:lpstr>Poorly constructed text alternative: vague</vt:lpstr>
      <vt:lpstr>Dense alt text</vt:lpstr>
      <vt:lpstr>Poorly constructed text alternative: inaccurate</vt:lpstr>
      <vt:lpstr>Poorly constructed text alternative: gibberish</vt:lpstr>
      <vt:lpstr>Poorly constructed text alternative: placeholder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Damian Sian</dc:creator>
  <cp:lastModifiedBy>Damian Sian</cp:lastModifiedBy>
  <cp:revision>13</cp:revision>
  <dcterms:created xsi:type="dcterms:W3CDTF">2026-02-14T17:40:25Z</dcterms:created>
  <dcterms:modified xsi:type="dcterms:W3CDTF">2026-02-16T21:16:16Z</dcterms:modified>
</cp:coreProperties>
</file>