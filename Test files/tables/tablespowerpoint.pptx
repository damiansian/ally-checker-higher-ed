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7" r:id="rId2"/>
    <p:sldId id="258" r:id="rId3"/>
    <p:sldId id="259" r:id="rId4"/>
    <p:sldId id="260"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6C6FF"/>
    <a:srgbClr val="14911E"/>
    <a:srgbClr val="FF3C3C"/>
    <a:srgbClr val="569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907"/>
    <p:restoredTop sz="94672"/>
  </p:normalViewPr>
  <p:slideViewPr>
    <p:cSldViewPr snapToGrid="0">
      <p:cViewPr varScale="1">
        <p:scale>
          <a:sx n="175" d="100"/>
          <a:sy n="175" d="100"/>
        </p:scale>
        <p:origin x="5320"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790E82-B582-0F4E-B2B3-2D64CFCFBDC7}" type="datetimeFigureOut">
              <a:rPr lang="en-US" smtClean="0"/>
              <a:t>3/7/26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04191A-9A8A-8845-9F9D-290305B59B8B}" type="slidenum">
              <a:rPr lang="en-US" smtClean="0"/>
              <a:t>‹#›</a:t>
            </a:fld>
            <a:endParaRPr lang="en-US"/>
          </a:p>
        </p:txBody>
      </p:sp>
    </p:spTree>
    <p:extLst>
      <p:ext uri="{BB962C8B-B14F-4D97-AF65-F5344CB8AC3E}">
        <p14:creationId xmlns:p14="http://schemas.microsoft.com/office/powerpoint/2010/main" val="3922559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04191A-9A8A-8845-9F9D-290305B59B8B}" type="slidenum">
              <a:rPr lang="en-US" smtClean="0"/>
              <a:t>1</a:t>
            </a:fld>
            <a:endParaRPr lang="en-US"/>
          </a:p>
        </p:txBody>
      </p:sp>
    </p:spTree>
    <p:extLst>
      <p:ext uri="{BB962C8B-B14F-4D97-AF65-F5344CB8AC3E}">
        <p14:creationId xmlns:p14="http://schemas.microsoft.com/office/powerpoint/2010/main" val="11744809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01B5B-DE28-E1BF-B0AB-9AF7969B75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A0FBC-375D-E1FE-467B-A862354C40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F3C014-DFAE-6236-F369-348A092922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03066A-1B53-2AAD-DFEA-37AC45AFBC81}"/>
              </a:ext>
            </a:extLst>
          </p:cNvPr>
          <p:cNvSpPr>
            <a:spLocks noGrp="1"/>
          </p:cNvSpPr>
          <p:nvPr>
            <p:ph type="sldNum" sz="quarter" idx="5"/>
          </p:nvPr>
        </p:nvSpPr>
        <p:spPr/>
        <p:txBody>
          <a:bodyPr/>
          <a:lstStyle/>
          <a:p>
            <a:fld id="{7104191A-9A8A-8845-9F9D-290305B59B8B}" type="slidenum">
              <a:rPr lang="en-US" smtClean="0"/>
              <a:t>2</a:t>
            </a:fld>
            <a:endParaRPr lang="en-US"/>
          </a:p>
        </p:txBody>
      </p:sp>
    </p:spTree>
    <p:extLst>
      <p:ext uri="{BB962C8B-B14F-4D97-AF65-F5344CB8AC3E}">
        <p14:creationId xmlns:p14="http://schemas.microsoft.com/office/powerpoint/2010/main" val="3364379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8E717-A62E-185C-EAF6-5BF9B61D85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A775A3-413A-53E5-D600-2CCCC9E0FA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B8D9B2-36D1-6A47-E47C-C70ED31167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A3DCF7-7BEE-DBEC-686C-C75AB4500C6C}"/>
              </a:ext>
            </a:extLst>
          </p:cNvPr>
          <p:cNvSpPr>
            <a:spLocks noGrp="1"/>
          </p:cNvSpPr>
          <p:nvPr>
            <p:ph type="sldNum" sz="quarter" idx="5"/>
          </p:nvPr>
        </p:nvSpPr>
        <p:spPr/>
        <p:txBody>
          <a:bodyPr/>
          <a:lstStyle/>
          <a:p>
            <a:fld id="{7104191A-9A8A-8845-9F9D-290305B59B8B}" type="slidenum">
              <a:rPr lang="en-US" smtClean="0"/>
              <a:t>3</a:t>
            </a:fld>
            <a:endParaRPr lang="en-US"/>
          </a:p>
        </p:txBody>
      </p:sp>
    </p:spTree>
    <p:extLst>
      <p:ext uri="{BB962C8B-B14F-4D97-AF65-F5344CB8AC3E}">
        <p14:creationId xmlns:p14="http://schemas.microsoft.com/office/powerpoint/2010/main" val="1492669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0ABED-D195-0C3B-962D-8422ECB3F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7B5869-3870-C681-6633-2C7435CC12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72ADC4-1287-8D5B-D36E-6FD9A14AAC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D68D4B-038A-C8E8-0E7D-874B4841FEF6}"/>
              </a:ext>
            </a:extLst>
          </p:cNvPr>
          <p:cNvSpPr>
            <a:spLocks noGrp="1"/>
          </p:cNvSpPr>
          <p:nvPr>
            <p:ph type="sldNum" sz="quarter" idx="5"/>
          </p:nvPr>
        </p:nvSpPr>
        <p:spPr/>
        <p:txBody>
          <a:bodyPr/>
          <a:lstStyle/>
          <a:p>
            <a:fld id="{7104191A-9A8A-8845-9F9D-290305B59B8B}" type="slidenum">
              <a:rPr lang="en-US" smtClean="0"/>
              <a:t>4</a:t>
            </a:fld>
            <a:endParaRPr lang="en-US"/>
          </a:p>
        </p:txBody>
      </p:sp>
    </p:spTree>
    <p:extLst>
      <p:ext uri="{BB962C8B-B14F-4D97-AF65-F5344CB8AC3E}">
        <p14:creationId xmlns:p14="http://schemas.microsoft.com/office/powerpoint/2010/main" val="2259209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ED31B-3A37-C32A-7428-C418BB83A7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C78C56-7B83-7659-000A-FF7FB5E37D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B54281-79BA-E0D4-6C3B-35F707A428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50C5FC-9C00-A769-4304-3D035AFFE546}"/>
              </a:ext>
            </a:extLst>
          </p:cNvPr>
          <p:cNvSpPr>
            <a:spLocks noGrp="1"/>
          </p:cNvSpPr>
          <p:nvPr>
            <p:ph type="sldNum" sz="quarter" idx="5"/>
          </p:nvPr>
        </p:nvSpPr>
        <p:spPr/>
        <p:txBody>
          <a:bodyPr/>
          <a:lstStyle/>
          <a:p>
            <a:fld id="{7104191A-9A8A-8845-9F9D-290305B59B8B}" type="slidenum">
              <a:rPr lang="en-US" smtClean="0"/>
              <a:t>5</a:t>
            </a:fld>
            <a:endParaRPr lang="en-US"/>
          </a:p>
        </p:txBody>
      </p:sp>
    </p:spTree>
    <p:extLst>
      <p:ext uri="{BB962C8B-B14F-4D97-AF65-F5344CB8AC3E}">
        <p14:creationId xmlns:p14="http://schemas.microsoft.com/office/powerpoint/2010/main" val="1426057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7376F-2D97-6933-3213-D18D6B29C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7ED932A-E1F3-C211-EBF1-E04428197F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DB462B1-C74B-8A3A-C2BA-B7DCCEA1085B}"/>
              </a:ext>
            </a:extLst>
          </p:cNvPr>
          <p:cNvSpPr>
            <a:spLocks noGrp="1"/>
          </p:cNvSpPr>
          <p:nvPr>
            <p:ph type="dt" sz="half" idx="10"/>
          </p:nvPr>
        </p:nvSpPr>
        <p:spPr/>
        <p:txBody>
          <a:bodyPr/>
          <a:lstStyle/>
          <a:p>
            <a:fld id="{A84DC69A-EA2F-A746-8DAA-A22638E842CE}" type="datetimeFigureOut">
              <a:rPr lang="en-US" smtClean="0"/>
              <a:t>3/7/26</a:t>
            </a:fld>
            <a:endParaRPr lang="en-US"/>
          </a:p>
        </p:txBody>
      </p:sp>
      <p:sp>
        <p:nvSpPr>
          <p:cNvPr id="5" name="Footer Placeholder 4">
            <a:extLst>
              <a:ext uri="{FF2B5EF4-FFF2-40B4-BE49-F238E27FC236}">
                <a16:creationId xmlns:a16="http://schemas.microsoft.com/office/drawing/2014/main" id="{DA9D2883-B52D-A983-34DB-C8A769AF2C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17D07C-BA79-04F5-4C02-DDCCA58C9EEA}"/>
              </a:ext>
            </a:extLst>
          </p:cNvPr>
          <p:cNvSpPr>
            <a:spLocks noGrp="1"/>
          </p:cNvSpPr>
          <p:nvPr>
            <p:ph type="sldNum" sz="quarter" idx="12"/>
          </p:nvPr>
        </p:nvSpPr>
        <p:spPr/>
        <p:txBody>
          <a:bodyPr/>
          <a:lstStyle/>
          <a:p>
            <a:fld id="{C3525C55-B235-024E-9B59-8C70078C5D66}" type="slidenum">
              <a:rPr lang="en-US" smtClean="0"/>
              <a:t>‹#›</a:t>
            </a:fld>
            <a:endParaRPr lang="en-US"/>
          </a:p>
        </p:txBody>
      </p:sp>
    </p:spTree>
    <p:extLst>
      <p:ext uri="{BB962C8B-B14F-4D97-AF65-F5344CB8AC3E}">
        <p14:creationId xmlns:p14="http://schemas.microsoft.com/office/powerpoint/2010/main" val="2899551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05C82-1CC3-AC31-E3EF-3F3332F181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CA12E9-6CC6-7DC1-FB69-024FDA6673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822B81-DBAF-710E-09E0-62ADE8CBDD8F}"/>
              </a:ext>
            </a:extLst>
          </p:cNvPr>
          <p:cNvSpPr>
            <a:spLocks noGrp="1"/>
          </p:cNvSpPr>
          <p:nvPr>
            <p:ph type="dt" sz="half" idx="10"/>
          </p:nvPr>
        </p:nvSpPr>
        <p:spPr/>
        <p:txBody>
          <a:bodyPr/>
          <a:lstStyle/>
          <a:p>
            <a:fld id="{A84DC69A-EA2F-A746-8DAA-A22638E842CE}" type="datetimeFigureOut">
              <a:rPr lang="en-US" smtClean="0"/>
              <a:t>3/7/26</a:t>
            </a:fld>
            <a:endParaRPr lang="en-US"/>
          </a:p>
        </p:txBody>
      </p:sp>
      <p:sp>
        <p:nvSpPr>
          <p:cNvPr id="5" name="Footer Placeholder 4">
            <a:extLst>
              <a:ext uri="{FF2B5EF4-FFF2-40B4-BE49-F238E27FC236}">
                <a16:creationId xmlns:a16="http://schemas.microsoft.com/office/drawing/2014/main" id="{F54BC3CD-1AC2-93CA-EA97-E6C0162F54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06360A-832C-0FB2-73CC-D9BB5B8BB5CE}"/>
              </a:ext>
            </a:extLst>
          </p:cNvPr>
          <p:cNvSpPr>
            <a:spLocks noGrp="1"/>
          </p:cNvSpPr>
          <p:nvPr>
            <p:ph type="sldNum" sz="quarter" idx="12"/>
          </p:nvPr>
        </p:nvSpPr>
        <p:spPr/>
        <p:txBody>
          <a:bodyPr/>
          <a:lstStyle/>
          <a:p>
            <a:fld id="{C3525C55-B235-024E-9B59-8C70078C5D66}" type="slidenum">
              <a:rPr lang="en-US" smtClean="0"/>
              <a:t>‹#›</a:t>
            </a:fld>
            <a:endParaRPr lang="en-US"/>
          </a:p>
        </p:txBody>
      </p:sp>
    </p:spTree>
    <p:extLst>
      <p:ext uri="{BB962C8B-B14F-4D97-AF65-F5344CB8AC3E}">
        <p14:creationId xmlns:p14="http://schemas.microsoft.com/office/powerpoint/2010/main" val="2475384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30069-965B-FC3E-C472-F8B56E5C50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33BCC6-8485-2AC6-E86D-3B2A2A1440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D1571A-05B2-E867-C34C-252D2EEDFA69}"/>
              </a:ext>
            </a:extLst>
          </p:cNvPr>
          <p:cNvSpPr>
            <a:spLocks noGrp="1"/>
          </p:cNvSpPr>
          <p:nvPr>
            <p:ph type="dt" sz="half" idx="10"/>
          </p:nvPr>
        </p:nvSpPr>
        <p:spPr/>
        <p:txBody>
          <a:bodyPr/>
          <a:lstStyle/>
          <a:p>
            <a:fld id="{A84DC69A-EA2F-A746-8DAA-A22638E842CE}" type="datetimeFigureOut">
              <a:rPr lang="en-US" smtClean="0"/>
              <a:t>3/7/26</a:t>
            </a:fld>
            <a:endParaRPr lang="en-US"/>
          </a:p>
        </p:txBody>
      </p:sp>
      <p:sp>
        <p:nvSpPr>
          <p:cNvPr id="5" name="Footer Placeholder 4">
            <a:extLst>
              <a:ext uri="{FF2B5EF4-FFF2-40B4-BE49-F238E27FC236}">
                <a16:creationId xmlns:a16="http://schemas.microsoft.com/office/drawing/2014/main" id="{A19F6E18-5177-3066-F056-97A41D440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C96FF5-C79E-9593-22CE-7D054F3F0650}"/>
              </a:ext>
            </a:extLst>
          </p:cNvPr>
          <p:cNvSpPr>
            <a:spLocks noGrp="1"/>
          </p:cNvSpPr>
          <p:nvPr>
            <p:ph type="sldNum" sz="quarter" idx="12"/>
          </p:nvPr>
        </p:nvSpPr>
        <p:spPr/>
        <p:txBody>
          <a:bodyPr/>
          <a:lstStyle/>
          <a:p>
            <a:fld id="{C3525C55-B235-024E-9B59-8C70078C5D66}" type="slidenum">
              <a:rPr lang="en-US" smtClean="0"/>
              <a:t>‹#›</a:t>
            </a:fld>
            <a:endParaRPr lang="en-US"/>
          </a:p>
        </p:txBody>
      </p:sp>
    </p:spTree>
    <p:extLst>
      <p:ext uri="{BB962C8B-B14F-4D97-AF65-F5344CB8AC3E}">
        <p14:creationId xmlns:p14="http://schemas.microsoft.com/office/powerpoint/2010/main" val="2725239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17ECF-CBE3-31EB-B257-262D3B380F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BCEC65-CABE-D21C-82D9-668597DACA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C0E477-1597-A66E-7686-45EA80D735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C612B7F-3908-8D67-4F34-0A68FFC89703}"/>
              </a:ext>
            </a:extLst>
          </p:cNvPr>
          <p:cNvSpPr>
            <a:spLocks noGrp="1"/>
          </p:cNvSpPr>
          <p:nvPr>
            <p:ph type="dt" sz="half" idx="10"/>
          </p:nvPr>
        </p:nvSpPr>
        <p:spPr/>
        <p:txBody>
          <a:bodyPr/>
          <a:lstStyle/>
          <a:p>
            <a:fld id="{A84DC69A-EA2F-A746-8DAA-A22638E842CE}" type="datetimeFigureOut">
              <a:rPr lang="en-US" smtClean="0"/>
              <a:t>3/7/26</a:t>
            </a:fld>
            <a:endParaRPr lang="en-US"/>
          </a:p>
        </p:txBody>
      </p:sp>
      <p:sp>
        <p:nvSpPr>
          <p:cNvPr id="6" name="Footer Placeholder 5">
            <a:extLst>
              <a:ext uri="{FF2B5EF4-FFF2-40B4-BE49-F238E27FC236}">
                <a16:creationId xmlns:a16="http://schemas.microsoft.com/office/drawing/2014/main" id="{A87D5CB9-07F7-4338-4EC5-7CF68C8DC9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B1B9F6-BAD6-7A4E-B5F1-4E691B83A3F0}"/>
              </a:ext>
            </a:extLst>
          </p:cNvPr>
          <p:cNvSpPr>
            <a:spLocks noGrp="1"/>
          </p:cNvSpPr>
          <p:nvPr>
            <p:ph type="sldNum" sz="quarter" idx="12"/>
          </p:nvPr>
        </p:nvSpPr>
        <p:spPr/>
        <p:txBody>
          <a:bodyPr/>
          <a:lstStyle/>
          <a:p>
            <a:fld id="{C3525C55-B235-024E-9B59-8C70078C5D66}" type="slidenum">
              <a:rPr lang="en-US" smtClean="0"/>
              <a:t>‹#›</a:t>
            </a:fld>
            <a:endParaRPr lang="en-US"/>
          </a:p>
        </p:txBody>
      </p:sp>
    </p:spTree>
    <p:extLst>
      <p:ext uri="{BB962C8B-B14F-4D97-AF65-F5344CB8AC3E}">
        <p14:creationId xmlns:p14="http://schemas.microsoft.com/office/powerpoint/2010/main" val="34804086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2F454-10F6-5770-7E7F-E42ED160313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523455-B40D-EDC6-AA9D-6B7091F785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3CCC01-6101-C285-06A2-A777C283F2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F74A6-FAB5-113F-E770-E6FB93A920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5FEE5F-F466-8180-7B3A-5D96E323BD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82BBE5D-8DD3-CD4C-608C-8E55EE674EA2}"/>
              </a:ext>
            </a:extLst>
          </p:cNvPr>
          <p:cNvSpPr>
            <a:spLocks noGrp="1"/>
          </p:cNvSpPr>
          <p:nvPr>
            <p:ph type="dt" sz="half" idx="10"/>
          </p:nvPr>
        </p:nvSpPr>
        <p:spPr/>
        <p:txBody>
          <a:bodyPr/>
          <a:lstStyle/>
          <a:p>
            <a:fld id="{A84DC69A-EA2F-A746-8DAA-A22638E842CE}" type="datetimeFigureOut">
              <a:rPr lang="en-US" smtClean="0"/>
              <a:t>3/7/26</a:t>
            </a:fld>
            <a:endParaRPr lang="en-US"/>
          </a:p>
        </p:txBody>
      </p:sp>
      <p:sp>
        <p:nvSpPr>
          <p:cNvPr id="8" name="Footer Placeholder 7">
            <a:extLst>
              <a:ext uri="{FF2B5EF4-FFF2-40B4-BE49-F238E27FC236}">
                <a16:creationId xmlns:a16="http://schemas.microsoft.com/office/drawing/2014/main" id="{E062BA3A-99A0-FA63-34C1-2F97E910FEF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6C5EFD8-024D-EF7F-AD4B-32E93CD359DC}"/>
              </a:ext>
            </a:extLst>
          </p:cNvPr>
          <p:cNvSpPr>
            <a:spLocks noGrp="1"/>
          </p:cNvSpPr>
          <p:nvPr>
            <p:ph type="sldNum" sz="quarter" idx="12"/>
          </p:nvPr>
        </p:nvSpPr>
        <p:spPr/>
        <p:txBody>
          <a:bodyPr/>
          <a:lstStyle/>
          <a:p>
            <a:fld id="{C3525C55-B235-024E-9B59-8C70078C5D66}" type="slidenum">
              <a:rPr lang="en-US" smtClean="0"/>
              <a:t>‹#›</a:t>
            </a:fld>
            <a:endParaRPr lang="en-US"/>
          </a:p>
        </p:txBody>
      </p:sp>
    </p:spTree>
    <p:extLst>
      <p:ext uri="{BB962C8B-B14F-4D97-AF65-F5344CB8AC3E}">
        <p14:creationId xmlns:p14="http://schemas.microsoft.com/office/powerpoint/2010/main" val="3770783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D0AE0-C975-BD3B-A2A3-510DE88DDCD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1576A1-3776-CE4D-31B1-91A6B17623FC}"/>
              </a:ext>
            </a:extLst>
          </p:cNvPr>
          <p:cNvSpPr>
            <a:spLocks noGrp="1"/>
          </p:cNvSpPr>
          <p:nvPr>
            <p:ph type="dt" sz="half" idx="10"/>
          </p:nvPr>
        </p:nvSpPr>
        <p:spPr/>
        <p:txBody>
          <a:bodyPr/>
          <a:lstStyle/>
          <a:p>
            <a:fld id="{A84DC69A-EA2F-A746-8DAA-A22638E842CE}" type="datetimeFigureOut">
              <a:rPr lang="en-US" smtClean="0"/>
              <a:t>3/7/26</a:t>
            </a:fld>
            <a:endParaRPr lang="en-US"/>
          </a:p>
        </p:txBody>
      </p:sp>
      <p:sp>
        <p:nvSpPr>
          <p:cNvPr id="4" name="Footer Placeholder 3">
            <a:extLst>
              <a:ext uri="{FF2B5EF4-FFF2-40B4-BE49-F238E27FC236}">
                <a16:creationId xmlns:a16="http://schemas.microsoft.com/office/drawing/2014/main" id="{29E3A433-52F1-D345-D108-ADFF1723C9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1568C35-D622-203F-B599-5F4637C6811C}"/>
              </a:ext>
            </a:extLst>
          </p:cNvPr>
          <p:cNvSpPr>
            <a:spLocks noGrp="1"/>
          </p:cNvSpPr>
          <p:nvPr>
            <p:ph type="sldNum" sz="quarter" idx="12"/>
          </p:nvPr>
        </p:nvSpPr>
        <p:spPr/>
        <p:txBody>
          <a:bodyPr/>
          <a:lstStyle/>
          <a:p>
            <a:fld id="{C3525C55-B235-024E-9B59-8C70078C5D66}" type="slidenum">
              <a:rPr lang="en-US" smtClean="0"/>
              <a:t>‹#›</a:t>
            </a:fld>
            <a:endParaRPr lang="en-US"/>
          </a:p>
        </p:txBody>
      </p:sp>
    </p:spTree>
    <p:extLst>
      <p:ext uri="{BB962C8B-B14F-4D97-AF65-F5344CB8AC3E}">
        <p14:creationId xmlns:p14="http://schemas.microsoft.com/office/powerpoint/2010/main" val="80259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7DEAB3-BC18-6BAA-4B89-81707AC00FA8}"/>
              </a:ext>
            </a:extLst>
          </p:cNvPr>
          <p:cNvSpPr>
            <a:spLocks noGrp="1"/>
          </p:cNvSpPr>
          <p:nvPr>
            <p:ph type="dt" sz="half" idx="10"/>
          </p:nvPr>
        </p:nvSpPr>
        <p:spPr/>
        <p:txBody>
          <a:bodyPr/>
          <a:lstStyle/>
          <a:p>
            <a:fld id="{A84DC69A-EA2F-A746-8DAA-A22638E842CE}" type="datetimeFigureOut">
              <a:rPr lang="en-US" smtClean="0"/>
              <a:t>3/7/26</a:t>
            </a:fld>
            <a:endParaRPr lang="en-US"/>
          </a:p>
        </p:txBody>
      </p:sp>
      <p:sp>
        <p:nvSpPr>
          <p:cNvPr id="3" name="Footer Placeholder 2">
            <a:extLst>
              <a:ext uri="{FF2B5EF4-FFF2-40B4-BE49-F238E27FC236}">
                <a16:creationId xmlns:a16="http://schemas.microsoft.com/office/drawing/2014/main" id="{3A4C35B4-A12C-ABC0-DADB-CBB201B237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4E75B3F-640B-5A12-B347-B9DCE65865DA}"/>
              </a:ext>
            </a:extLst>
          </p:cNvPr>
          <p:cNvSpPr>
            <a:spLocks noGrp="1"/>
          </p:cNvSpPr>
          <p:nvPr>
            <p:ph type="sldNum" sz="quarter" idx="12"/>
          </p:nvPr>
        </p:nvSpPr>
        <p:spPr/>
        <p:txBody>
          <a:bodyPr/>
          <a:lstStyle/>
          <a:p>
            <a:fld id="{C3525C55-B235-024E-9B59-8C70078C5D66}" type="slidenum">
              <a:rPr lang="en-US" smtClean="0"/>
              <a:t>‹#›</a:t>
            </a:fld>
            <a:endParaRPr lang="en-US"/>
          </a:p>
        </p:txBody>
      </p:sp>
    </p:spTree>
    <p:extLst>
      <p:ext uri="{BB962C8B-B14F-4D97-AF65-F5344CB8AC3E}">
        <p14:creationId xmlns:p14="http://schemas.microsoft.com/office/powerpoint/2010/main" val="659544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52A9A-756C-83FE-77A8-E688DC161A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4440373-0E3E-82DC-5106-472AFC65F2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3A9C73D-3B2B-7032-EE97-E7B702B4D0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2991D2-5635-CAC5-64C6-9A59ECA40C39}"/>
              </a:ext>
            </a:extLst>
          </p:cNvPr>
          <p:cNvSpPr>
            <a:spLocks noGrp="1"/>
          </p:cNvSpPr>
          <p:nvPr>
            <p:ph type="dt" sz="half" idx="10"/>
          </p:nvPr>
        </p:nvSpPr>
        <p:spPr/>
        <p:txBody>
          <a:bodyPr/>
          <a:lstStyle/>
          <a:p>
            <a:fld id="{A84DC69A-EA2F-A746-8DAA-A22638E842CE}" type="datetimeFigureOut">
              <a:rPr lang="en-US" smtClean="0"/>
              <a:t>3/7/26</a:t>
            </a:fld>
            <a:endParaRPr lang="en-US"/>
          </a:p>
        </p:txBody>
      </p:sp>
      <p:sp>
        <p:nvSpPr>
          <p:cNvPr id="6" name="Footer Placeholder 5">
            <a:extLst>
              <a:ext uri="{FF2B5EF4-FFF2-40B4-BE49-F238E27FC236}">
                <a16:creationId xmlns:a16="http://schemas.microsoft.com/office/drawing/2014/main" id="{BD059E87-BC6A-3B28-9803-6ABFD3B802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066257-5491-B38B-518F-4F72B8436A12}"/>
              </a:ext>
            </a:extLst>
          </p:cNvPr>
          <p:cNvSpPr>
            <a:spLocks noGrp="1"/>
          </p:cNvSpPr>
          <p:nvPr>
            <p:ph type="sldNum" sz="quarter" idx="12"/>
          </p:nvPr>
        </p:nvSpPr>
        <p:spPr/>
        <p:txBody>
          <a:bodyPr/>
          <a:lstStyle/>
          <a:p>
            <a:fld id="{C3525C55-B235-024E-9B59-8C70078C5D66}" type="slidenum">
              <a:rPr lang="en-US" smtClean="0"/>
              <a:t>‹#›</a:t>
            </a:fld>
            <a:endParaRPr lang="en-US"/>
          </a:p>
        </p:txBody>
      </p:sp>
    </p:spTree>
    <p:extLst>
      <p:ext uri="{BB962C8B-B14F-4D97-AF65-F5344CB8AC3E}">
        <p14:creationId xmlns:p14="http://schemas.microsoft.com/office/powerpoint/2010/main" val="22136353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A44DB-11FA-D952-7D77-BE5C88826F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9E33AEA-F37E-45A9-0E64-4D95FA1E0F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14E053-4DA5-068D-3039-5EF0AF62ED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922219-5A51-9D04-D782-155E2FA64BC2}"/>
              </a:ext>
            </a:extLst>
          </p:cNvPr>
          <p:cNvSpPr>
            <a:spLocks noGrp="1"/>
          </p:cNvSpPr>
          <p:nvPr>
            <p:ph type="dt" sz="half" idx="10"/>
          </p:nvPr>
        </p:nvSpPr>
        <p:spPr/>
        <p:txBody>
          <a:bodyPr/>
          <a:lstStyle/>
          <a:p>
            <a:fld id="{A84DC69A-EA2F-A746-8DAA-A22638E842CE}" type="datetimeFigureOut">
              <a:rPr lang="en-US" smtClean="0"/>
              <a:t>3/7/26</a:t>
            </a:fld>
            <a:endParaRPr lang="en-US"/>
          </a:p>
        </p:txBody>
      </p:sp>
      <p:sp>
        <p:nvSpPr>
          <p:cNvPr id="6" name="Footer Placeholder 5">
            <a:extLst>
              <a:ext uri="{FF2B5EF4-FFF2-40B4-BE49-F238E27FC236}">
                <a16:creationId xmlns:a16="http://schemas.microsoft.com/office/drawing/2014/main" id="{6F2F794D-5F01-2983-2071-A8E500C507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82E7E5-0CAA-B92C-5412-45A94E18D97F}"/>
              </a:ext>
            </a:extLst>
          </p:cNvPr>
          <p:cNvSpPr>
            <a:spLocks noGrp="1"/>
          </p:cNvSpPr>
          <p:nvPr>
            <p:ph type="sldNum" sz="quarter" idx="12"/>
          </p:nvPr>
        </p:nvSpPr>
        <p:spPr/>
        <p:txBody>
          <a:bodyPr/>
          <a:lstStyle/>
          <a:p>
            <a:fld id="{C3525C55-B235-024E-9B59-8C70078C5D66}" type="slidenum">
              <a:rPr lang="en-US" smtClean="0"/>
              <a:t>‹#›</a:t>
            </a:fld>
            <a:endParaRPr lang="en-US"/>
          </a:p>
        </p:txBody>
      </p:sp>
    </p:spTree>
    <p:extLst>
      <p:ext uri="{BB962C8B-B14F-4D97-AF65-F5344CB8AC3E}">
        <p14:creationId xmlns:p14="http://schemas.microsoft.com/office/powerpoint/2010/main" val="2781954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32B0D-22AC-87C5-5B46-0F716A484A6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1EDE12D-0058-35B6-25E0-3D3C72C49F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ADACE2-5F78-C172-F3B2-D5B495B2B2A4}"/>
              </a:ext>
            </a:extLst>
          </p:cNvPr>
          <p:cNvSpPr>
            <a:spLocks noGrp="1"/>
          </p:cNvSpPr>
          <p:nvPr>
            <p:ph type="dt" sz="half" idx="10"/>
          </p:nvPr>
        </p:nvSpPr>
        <p:spPr/>
        <p:txBody>
          <a:bodyPr/>
          <a:lstStyle/>
          <a:p>
            <a:fld id="{A84DC69A-EA2F-A746-8DAA-A22638E842CE}" type="datetimeFigureOut">
              <a:rPr lang="en-US" smtClean="0"/>
              <a:t>3/7/26</a:t>
            </a:fld>
            <a:endParaRPr lang="en-US"/>
          </a:p>
        </p:txBody>
      </p:sp>
      <p:sp>
        <p:nvSpPr>
          <p:cNvPr id="5" name="Footer Placeholder 4">
            <a:extLst>
              <a:ext uri="{FF2B5EF4-FFF2-40B4-BE49-F238E27FC236}">
                <a16:creationId xmlns:a16="http://schemas.microsoft.com/office/drawing/2014/main" id="{FBAFF2F7-D5C2-7F65-2B55-B85670FB18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6F9E99-7000-729F-9201-349AC3D75CE0}"/>
              </a:ext>
            </a:extLst>
          </p:cNvPr>
          <p:cNvSpPr>
            <a:spLocks noGrp="1"/>
          </p:cNvSpPr>
          <p:nvPr>
            <p:ph type="sldNum" sz="quarter" idx="12"/>
          </p:nvPr>
        </p:nvSpPr>
        <p:spPr/>
        <p:txBody>
          <a:bodyPr/>
          <a:lstStyle/>
          <a:p>
            <a:fld id="{C3525C55-B235-024E-9B59-8C70078C5D66}" type="slidenum">
              <a:rPr lang="en-US" smtClean="0"/>
              <a:t>‹#›</a:t>
            </a:fld>
            <a:endParaRPr lang="en-US"/>
          </a:p>
        </p:txBody>
      </p:sp>
    </p:spTree>
    <p:extLst>
      <p:ext uri="{BB962C8B-B14F-4D97-AF65-F5344CB8AC3E}">
        <p14:creationId xmlns:p14="http://schemas.microsoft.com/office/powerpoint/2010/main" val="2610603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7EB893-5287-983B-E521-658E9755733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9934CDB-E575-88E5-DA94-AB3609D5FA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9D7FA3-36A5-F008-5C10-B57CD7EB8A25}"/>
              </a:ext>
            </a:extLst>
          </p:cNvPr>
          <p:cNvSpPr>
            <a:spLocks noGrp="1"/>
          </p:cNvSpPr>
          <p:nvPr>
            <p:ph type="dt" sz="half" idx="10"/>
          </p:nvPr>
        </p:nvSpPr>
        <p:spPr/>
        <p:txBody>
          <a:bodyPr/>
          <a:lstStyle/>
          <a:p>
            <a:fld id="{A84DC69A-EA2F-A746-8DAA-A22638E842CE}" type="datetimeFigureOut">
              <a:rPr lang="en-US" smtClean="0"/>
              <a:t>3/7/26</a:t>
            </a:fld>
            <a:endParaRPr lang="en-US"/>
          </a:p>
        </p:txBody>
      </p:sp>
      <p:sp>
        <p:nvSpPr>
          <p:cNvPr id="5" name="Footer Placeholder 4">
            <a:extLst>
              <a:ext uri="{FF2B5EF4-FFF2-40B4-BE49-F238E27FC236}">
                <a16:creationId xmlns:a16="http://schemas.microsoft.com/office/drawing/2014/main" id="{FB024CCC-F7C3-03C7-1E7D-8984E15DC3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70AA96-5BE6-B4FC-269D-F3A97E19DE60}"/>
              </a:ext>
            </a:extLst>
          </p:cNvPr>
          <p:cNvSpPr>
            <a:spLocks noGrp="1"/>
          </p:cNvSpPr>
          <p:nvPr>
            <p:ph type="sldNum" sz="quarter" idx="12"/>
          </p:nvPr>
        </p:nvSpPr>
        <p:spPr/>
        <p:txBody>
          <a:bodyPr/>
          <a:lstStyle/>
          <a:p>
            <a:fld id="{C3525C55-B235-024E-9B59-8C70078C5D66}" type="slidenum">
              <a:rPr lang="en-US" smtClean="0"/>
              <a:t>‹#›</a:t>
            </a:fld>
            <a:endParaRPr lang="en-US"/>
          </a:p>
        </p:txBody>
      </p:sp>
    </p:spTree>
    <p:extLst>
      <p:ext uri="{BB962C8B-B14F-4D97-AF65-F5344CB8AC3E}">
        <p14:creationId xmlns:p14="http://schemas.microsoft.com/office/powerpoint/2010/main" val="3321668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AE515B-60CE-BCD6-D7F7-D0B1D1ECEF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C281D3E-3945-75B6-E283-8A13E14297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3CFAD3-194D-45F8-7C72-0567348873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4DC69A-EA2F-A746-8DAA-A22638E842CE}" type="datetimeFigureOut">
              <a:rPr lang="en-US" smtClean="0"/>
              <a:t>3/7/26</a:t>
            </a:fld>
            <a:endParaRPr lang="en-US"/>
          </a:p>
        </p:txBody>
      </p:sp>
      <p:sp>
        <p:nvSpPr>
          <p:cNvPr id="5" name="Footer Placeholder 4">
            <a:extLst>
              <a:ext uri="{FF2B5EF4-FFF2-40B4-BE49-F238E27FC236}">
                <a16:creationId xmlns:a16="http://schemas.microsoft.com/office/drawing/2014/main" id="{AEEAAED0-C625-8FAA-B64A-B143BD63F3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9350A21-9FBC-667E-3E50-2DFD7891D7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3525C55-B235-024E-9B59-8C70078C5D66}" type="slidenum">
              <a:rPr lang="en-US" smtClean="0"/>
              <a:t>‹#›</a:t>
            </a:fld>
            <a:endParaRPr lang="en-US"/>
          </a:p>
        </p:txBody>
      </p:sp>
    </p:spTree>
    <p:extLst>
      <p:ext uri="{BB962C8B-B14F-4D97-AF65-F5344CB8AC3E}">
        <p14:creationId xmlns:p14="http://schemas.microsoft.com/office/powerpoint/2010/main" val="35008710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1F76E-1B98-69F4-41A6-11E41140A2F9}"/>
              </a:ext>
            </a:extLst>
          </p:cNvPr>
          <p:cNvSpPr>
            <a:spLocks noGrp="1"/>
          </p:cNvSpPr>
          <p:nvPr>
            <p:ph type="title"/>
          </p:nvPr>
        </p:nvSpPr>
        <p:spPr/>
        <p:txBody>
          <a:bodyPr/>
          <a:lstStyle/>
          <a:p>
            <a:r>
              <a:rPr lang="en-US" b="1" dirty="0"/>
              <a:t>Simple table without column header</a:t>
            </a:r>
            <a:endParaRPr lang="en-US" dirty="0"/>
          </a:p>
        </p:txBody>
      </p:sp>
      <p:sp>
        <p:nvSpPr>
          <p:cNvPr id="3" name="Content Placeholder 2">
            <a:extLst>
              <a:ext uri="{FF2B5EF4-FFF2-40B4-BE49-F238E27FC236}">
                <a16:creationId xmlns:a16="http://schemas.microsoft.com/office/drawing/2014/main" id="{F324356C-10C2-6B40-7689-9A2589898C28}"/>
              </a:ext>
            </a:extLst>
          </p:cNvPr>
          <p:cNvSpPr>
            <a:spLocks noGrp="1"/>
          </p:cNvSpPr>
          <p:nvPr>
            <p:ph idx="1"/>
          </p:nvPr>
        </p:nvSpPr>
        <p:spPr>
          <a:xfrm>
            <a:off x="838200" y="1825624"/>
            <a:ext cx="4350657" cy="2884261"/>
          </a:xfrm>
        </p:spPr>
        <p:txBody>
          <a:bodyPr/>
          <a:lstStyle/>
          <a:p>
            <a:pPr marL="0" indent="0">
              <a:buNone/>
            </a:pPr>
            <a:r>
              <a:rPr lang="en-US" dirty="0"/>
              <a:t>Simple table that should have a table header of column set but does not. </a:t>
            </a:r>
          </a:p>
          <a:p>
            <a:pPr marL="0" indent="0">
              <a:buNone/>
            </a:pPr>
            <a:endParaRPr lang="en-US" dirty="0"/>
          </a:p>
        </p:txBody>
      </p:sp>
      <p:graphicFrame>
        <p:nvGraphicFramePr>
          <p:cNvPr id="7" name="Table 6">
            <a:extLst>
              <a:ext uri="{FF2B5EF4-FFF2-40B4-BE49-F238E27FC236}">
                <a16:creationId xmlns:a16="http://schemas.microsoft.com/office/drawing/2014/main" id="{295AFC2A-C8A6-18C7-9C0C-DF13ED794140}"/>
              </a:ext>
            </a:extLst>
          </p:cNvPr>
          <p:cNvGraphicFramePr>
            <a:graphicFrameLocks noGrp="1"/>
          </p:cNvGraphicFramePr>
          <p:nvPr>
            <p:extLst>
              <p:ext uri="{D42A27DB-BD31-4B8C-83A1-F6EECF244321}">
                <p14:modId xmlns:p14="http://schemas.microsoft.com/office/powerpoint/2010/main" val="3711012878"/>
              </p:ext>
            </p:extLst>
          </p:nvPr>
        </p:nvGraphicFramePr>
        <p:xfrm>
          <a:off x="6154057" y="1821542"/>
          <a:ext cx="5254172" cy="2053772"/>
        </p:xfrm>
        <a:graphic>
          <a:graphicData uri="http://schemas.openxmlformats.org/drawingml/2006/table">
            <a:tbl>
              <a:tblPr>
                <a:tableStyleId>{2D5ABB26-0587-4C30-8999-92F81FD0307C}</a:tableStyleId>
              </a:tblPr>
              <a:tblGrid>
                <a:gridCol w="1751016">
                  <a:extLst>
                    <a:ext uri="{9D8B030D-6E8A-4147-A177-3AD203B41FA5}">
                      <a16:colId xmlns:a16="http://schemas.microsoft.com/office/drawing/2014/main" val="1259032158"/>
                    </a:ext>
                  </a:extLst>
                </a:gridCol>
                <a:gridCol w="1751578">
                  <a:extLst>
                    <a:ext uri="{9D8B030D-6E8A-4147-A177-3AD203B41FA5}">
                      <a16:colId xmlns:a16="http://schemas.microsoft.com/office/drawing/2014/main" val="1746849884"/>
                    </a:ext>
                  </a:extLst>
                </a:gridCol>
                <a:gridCol w="1751578">
                  <a:extLst>
                    <a:ext uri="{9D8B030D-6E8A-4147-A177-3AD203B41FA5}">
                      <a16:colId xmlns:a16="http://schemas.microsoft.com/office/drawing/2014/main" val="1949070207"/>
                    </a:ext>
                  </a:extLst>
                </a:gridCol>
              </a:tblGrid>
              <a:tr h="513443">
                <a:tc>
                  <a:txBody>
                    <a:bodyPr/>
                    <a:lstStyle/>
                    <a:p>
                      <a:pPr marL="0" marR="0" algn="l">
                        <a:lnSpc>
                          <a:spcPct val="115000"/>
                        </a:lnSpc>
                        <a:spcAft>
                          <a:spcPts val="800"/>
                        </a:spcAft>
                        <a:buNone/>
                      </a:pPr>
                      <a:r>
                        <a:rPr lang="en-US" sz="1200" b="1" kern="100">
                          <a:effectLst/>
                        </a:rPr>
                        <a:t>Date</a:t>
                      </a:r>
                      <a:endParaRPr lang="en-US" sz="1200" b="1" kern="10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l">
                        <a:lnSpc>
                          <a:spcPct val="115000"/>
                        </a:lnSpc>
                        <a:spcAft>
                          <a:spcPts val="800"/>
                        </a:spcAft>
                        <a:buNone/>
                      </a:pPr>
                      <a:r>
                        <a:rPr lang="en-US" sz="1200" b="1" kern="100">
                          <a:effectLst/>
                        </a:rPr>
                        <a:t>Event</a:t>
                      </a:r>
                      <a:endParaRPr lang="en-US" sz="1200" b="1" kern="10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algn="l">
                        <a:lnSpc>
                          <a:spcPct val="115000"/>
                        </a:lnSpc>
                        <a:spcAft>
                          <a:spcPts val="800"/>
                        </a:spcAft>
                        <a:buNone/>
                      </a:pPr>
                      <a:r>
                        <a:rPr lang="en-US" sz="1200" b="1" kern="100" dirty="0">
                          <a:effectLst/>
                        </a:rPr>
                        <a:t>Venue</a:t>
                      </a:r>
                      <a:endParaRPr lang="en-US" sz="12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02035451"/>
                  </a:ext>
                </a:extLst>
              </a:tr>
              <a:tr h="513443">
                <a:tc>
                  <a:txBody>
                    <a:bodyPr/>
                    <a:lstStyle/>
                    <a:p>
                      <a:pPr marL="0" marR="0" algn="l">
                        <a:lnSpc>
                          <a:spcPct val="115000"/>
                        </a:lnSpc>
                        <a:spcAft>
                          <a:spcPts val="800"/>
                        </a:spcAft>
                        <a:buNone/>
                      </a:pPr>
                      <a:r>
                        <a:rPr lang="en-US" sz="1200" kern="100">
                          <a:effectLst/>
                        </a:rPr>
                        <a:t>12 February</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15000"/>
                        </a:lnSpc>
                        <a:spcAft>
                          <a:spcPts val="800"/>
                        </a:spcAft>
                        <a:buNone/>
                      </a:pPr>
                      <a:r>
                        <a:rPr lang="en-US" sz="1200" kern="100">
                          <a:effectLst/>
                        </a:rPr>
                        <a:t>Waltz with Strauss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15000"/>
                        </a:lnSpc>
                        <a:spcAft>
                          <a:spcPts val="800"/>
                        </a:spcAft>
                        <a:buNone/>
                      </a:pPr>
                      <a:r>
                        <a:rPr lang="en-US" sz="1200" kern="100">
                          <a:effectLst/>
                        </a:rPr>
                        <a:t>Main Hall</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7606367"/>
                  </a:ext>
                </a:extLst>
              </a:tr>
              <a:tr h="513443">
                <a:tc>
                  <a:txBody>
                    <a:bodyPr/>
                    <a:lstStyle/>
                    <a:p>
                      <a:pPr marL="0" marR="0" algn="l">
                        <a:lnSpc>
                          <a:spcPct val="115000"/>
                        </a:lnSpc>
                        <a:spcAft>
                          <a:spcPts val="800"/>
                        </a:spcAft>
                        <a:buNone/>
                      </a:pPr>
                      <a:r>
                        <a:rPr lang="en-US" sz="1200" kern="100">
                          <a:effectLst/>
                        </a:rPr>
                        <a:t>24 March</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15000"/>
                        </a:lnSpc>
                        <a:spcAft>
                          <a:spcPts val="800"/>
                        </a:spcAft>
                        <a:buNone/>
                      </a:pPr>
                      <a:r>
                        <a:rPr lang="en-US" sz="1200" kern="100">
                          <a:effectLst/>
                        </a:rPr>
                        <a:t>The Obelisks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15000"/>
                        </a:lnSpc>
                        <a:spcAft>
                          <a:spcPts val="800"/>
                        </a:spcAft>
                        <a:buNone/>
                      </a:pPr>
                      <a:r>
                        <a:rPr lang="en-US" sz="1200" kern="100" dirty="0">
                          <a:effectLst/>
                        </a:rPr>
                        <a:t>West Wing</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8939107"/>
                  </a:ext>
                </a:extLst>
              </a:tr>
              <a:tr h="513443">
                <a:tc>
                  <a:txBody>
                    <a:bodyPr/>
                    <a:lstStyle/>
                    <a:p>
                      <a:pPr marL="0" marR="0" algn="l">
                        <a:lnSpc>
                          <a:spcPct val="115000"/>
                        </a:lnSpc>
                        <a:spcAft>
                          <a:spcPts val="800"/>
                        </a:spcAft>
                        <a:buNone/>
                      </a:pPr>
                      <a:r>
                        <a:rPr lang="en-US" sz="1200" kern="100" dirty="0">
                          <a:effectLst/>
                        </a:rPr>
                        <a:t>14 April</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15000"/>
                        </a:lnSpc>
                        <a:spcAft>
                          <a:spcPts val="800"/>
                        </a:spcAft>
                        <a:buNone/>
                      </a:pPr>
                      <a:r>
                        <a:rPr lang="en-US" sz="1200" kern="100" dirty="0">
                          <a:effectLst/>
                        </a:rPr>
                        <a:t>The What</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l">
                        <a:lnSpc>
                          <a:spcPct val="115000"/>
                        </a:lnSpc>
                        <a:spcAft>
                          <a:spcPts val="800"/>
                        </a:spcAft>
                        <a:buNone/>
                      </a:pPr>
                      <a:r>
                        <a:rPr lang="en-US" sz="1200" kern="100" dirty="0">
                          <a:effectLst/>
                        </a:rPr>
                        <a:t>Main Hall</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9123798"/>
                  </a:ext>
                </a:extLst>
              </a:tr>
            </a:tbl>
          </a:graphicData>
        </a:graphic>
      </p:graphicFrame>
      <p:graphicFrame>
        <p:nvGraphicFramePr>
          <p:cNvPr id="6" name="Table 5">
            <a:extLst>
              <a:ext uri="{FF2B5EF4-FFF2-40B4-BE49-F238E27FC236}">
                <a16:creationId xmlns:a16="http://schemas.microsoft.com/office/drawing/2014/main" id="{1058C430-A844-CF1E-415E-963AE19C0DE4}"/>
              </a:ext>
            </a:extLst>
          </p:cNvPr>
          <p:cNvGraphicFramePr>
            <a:graphicFrameLocks noGrp="1"/>
          </p:cNvGraphicFramePr>
          <p:nvPr>
            <p:extLst>
              <p:ext uri="{D42A27DB-BD31-4B8C-83A1-F6EECF244321}">
                <p14:modId xmlns:p14="http://schemas.microsoft.com/office/powerpoint/2010/main" val="351875774"/>
              </p:ext>
            </p:extLst>
          </p:nvPr>
        </p:nvGraphicFramePr>
        <p:xfrm>
          <a:off x="737869" y="4926451"/>
          <a:ext cx="5336360" cy="1169480"/>
        </p:xfrm>
        <a:graphic>
          <a:graphicData uri="http://schemas.openxmlformats.org/drawingml/2006/table">
            <a:tbl>
              <a:tblPr firstRow="1" bandRow="1">
                <a:tableStyleId>{5C22544A-7EE6-4342-B048-85BDC9FD1C3A}</a:tableStyleId>
              </a:tblPr>
              <a:tblGrid>
                <a:gridCol w="2569358">
                  <a:extLst>
                    <a:ext uri="{9D8B030D-6E8A-4147-A177-3AD203B41FA5}">
                      <a16:colId xmlns:a16="http://schemas.microsoft.com/office/drawing/2014/main" val="1997474820"/>
                    </a:ext>
                  </a:extLst>
                </a:gridCol>
                <a:gridCol w="2767002">
                  <a:extLst>
                    <a:ext uri="{9D8B030D-6E8A-4147-A177-3AD203B41FA5}">
                      <a16:colId xmlns:a16="http://schemas.microsoft.com/office/drawing/2014/main" val="123640046"/>
                    </a:ext>
                  </a:extLst>
                </a:gridCol>
              </a:tblGrid>
              <a:tr h="771564">
                <a:tc>
                  <a:txBody>
                    <a:bodyPr/>
                    <a:lstStyle/>
                    <a:p>
                      <a:pPr marL="0" marR="0">
                        <a:lnSpc>
                          <a:spcPct val="115000"/>
                        </a:lnSpc>
                        <a:spcAft>
                          <a:spcPts val="800"/>
                        </a:spcAft>
                        <a:buNone/>
                      </a:pPr>
                      <a:r>
                        <a:rPr lang="en-US" sz="2300" kern="100" dirty="0">
                          <a:effectLst/>
                        </a:rPr>
                        <a:t>A11y automated checker</a:t>
                      </a:r>
                      <a:endParaRPr lang="en-US" sz="2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28992" marR="128992" marT="0" marB="0"/>
                </a:tc>
                <a:tc>
                  <a:txBody>
                    <a:bodyPr/>
                    <a:lstStyle/>
                    <a:p>
                      <a:pPr marL="0" marR="0">
                        <a:lnSpc>
                          <a:spcPct val="115000"/>
                        </a:lnSpc>
                        <a:spcAft>
                          <a:spcPts val="800"/>
                        </a:spcAft>
                        <a:buNone/>
                      </a:pPr>
                      <a:r>
                        <a:rPr lang="en-US" sz="2300" kern="100" dirty="0">
                          <a:effectLst/>
                        </a:rPr>
                        <a:t>MS Accessibility checker</a:t>
                      </a:r>
                      <a:endParaRPr lang="en-US" sz="2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28992" marR="128992" marT="0" marB="0"/>
                </a:tc>
                <a:extLst>
                  <a:ext uri="{0D108BD9-81ED-4DB2-BD59-A6C34878D82A}">
                    <a16:rowId xmlns:a16="http://schemas.microsoft.com/office/drawing/2014/main" val="2904024515"/>
                  </a:ext>
                </a:extLst>
              </a:tr>
              <a:tr h="376109">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2300" b="0" i="0" u="none" strike="noStrike" kern="100" cap="none" spc="0" normalizeH="0" baseline="0" noProof="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Detected</a:t>
                      </a:r>
                      <a:endParaRPr kumimoji="0" lang="en-US" sz="23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txBody>
                  <a:tcPr marL="128992" marR="128992" marT="0" marB="0"/>
                </a:tc>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US" sz="23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Detected</a:t>
                      </a:r>
                    </a:p>
                  </a:txBody>
                  <a:tcPr marL="128992" marR="128992" marT="0" marB="0"/>
                </a:tc>
                <a:extLst>
                  <a:ext uri="{0D108BD9-81ED-4DB2-BD59-A6C34878D82A}">
                    <a16:rowId xmlns:a16="http://schemas.microsoft.com/office/drawing/2014/main" val="4046348799"/>
                  </a:ext>
                </a:extLst>
              </a:tr>
            </a:tbl>
          </a:graphicData>
        </a:graphic>
      </p:graphicFrame>
    </p:spTree>
    <p:extLst>
      <p:ext uri="{BB962C8B-B14F-4D97-AF65-F5344CB8AC3E}">
        <p14:creationId xmlns:p14="http://schemas.microsoft.com/office/powerpoint/2010/main" val="3796369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B3E7B-4F45-5330-C0ED-C2897D7295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CDB11E-263F-415C-83A7-D44DB0358D5D}"/>
              </a:ext>
            </a:extLst>
          </p:cNvPr>
          <p:cNvSpPr>
            <a:spLocks noGrp="1"/>
          </p:cNvSpPr>
          <p:nvPr>
            <p:ph type="title"/>
          </p:nvPr>
        </p:nvSpPr>
        <p:spPr/>
        <p:txBody>
          <a:bodyPr/>
          <a:lstStyle/>
          <a:p>
            <a:r>
              <a:rPr lang="en-US" b="1" dirty="0"/>
              <a:t>Column and row header</a:t>
            </a:r>
            <a:endParaRPr lang="en-US" dirty="0"/>
          </a:p>
        </p:txBody>
      </p:sp>
      <p:sp>
        <p:nvSpPr>
          <p:cNvPr id="3" name="Content Placeholder 2">
            <a:extLst>
              <a:ext uri="{FF2B5EF4-FFF2-40B4-BE49-F238E27FC236}">
                <a16:creationId xmlns:a16="http://schemas.microsoft.com/office/drawing/2014/main" id="{FB3C24D5-4705-6CA6-330D-8DEFF80E2D67}"/>
              </a:ext>
            </a:extLst>
          </p:cNvPr>
          <p:cNvSpPr>
            <a:spLocks noGrp="1"/>
          </p:cNvSpPr>
          <p:nvPr>
            <p:ph idx="1"/>
          </p:nvPr>
        </p:nvSpPr>
        <p:spPr>
          <a:xfrm>
            <a:off x="838200" y="1825624"/>
            <a:ext cx="4350657" cy="2884261"/>
          </a:xfrm>
        </p:spPr>
        <p:txBody>
          <a:bodyPr>
            <a:normAutofit/>
          </a:bodyPr>
          <a:lstStyle/>
          <a:p>
            <a:pPr marL="0" indent="0">
              <a:buNone/>
            </a:pPr>
            <a:r>
              <a:rPr lang="en-US" dirty="0"/>
              <a:t>The following table has content that should be column headers and content that should be row headers per the visual affordances. </a:t>
            </a:r>
          </a:p>
        </p:txBody>
      </p:sp>
      <p:graphicFrame>
        <p:nvGraphicFramePr>
          <p:cNvPr id="6" name="Table 5">
            <a:extLst>
              <a:ext uri="{FF2B5EF4-FFF2-40B4-BE49-F238E27FC236}">
                <a16:creationId xmlns:a16="http://schemas.microsoft.com/office/drawing/2014/main" id="{D57075D0-4573-CEE8-F2BD-77657E820000}"/>
              </a:ext>
            </a:extLst>
          </p:cNvPr>
          <p:cNvGraphicFramePr>
            <a:graphicFrameLocks noGrp="1"/>
          </p:cNvGraphicFramePr>
          <p:nvPr>
            <p:extLst>
              <p:ext uri="{D42A27DB-BD31-4B8C-83A1-F6EECF244321}">
                <p14:modId xmlns:p14="http://schemas.microsoft.com/office/powerpoint/2010/main" val="2822545119"/>
              </p:ext>
            </p:extLst>
          </p:nvPr>
        </p:nvGraphicFramePr>
        <p:xfrm>
          <a:off x="737869" y="4926451"/>
          <a:ext cx="5691960" cy="1169480"/>
        </p:xfrm>
        <a:graphic>
          <a:graphicData uri="http://schemas.openxmlformats.org/drawingml/2006/table">
            <a:tbl>
              <a:tblPr firstRow="1" bandRow="1">
                <a:tableStyleId>{5C22544A-7EE6-4342-B048-85BDC9FD1C3A}</a:tableStyleId>
              </a:tblPr>
              <a:tblGrid>
                <a:gridCol w="2740573">
                  <a:extLst>
                    <a:ext uri="{9D8B030D-6E8A-4147-A177-3AD203B41FA5}">
                      <a16:colId xmlns:a16="http://schemas.microsoft.com/office/drawing/2014/main" val="1997474820"/>
                    </a:ext>
                  </a:extLst>
                </a:gridCol>
                <a:gridCol w="2951387">
                  <a:extLst>
                    <a:ext uri="{9D8B030D-6E8A-4147-A177-3AD203B41FA5}">
                      <a16:colId xmlns:a16="http://schemas.microsoft.com/office/drawing/2014/main" val="123640046"/>
                    </a:ext>
                  </a:extLst>
                </a:gridCol>
              </a:tblGrid>
              <a:tr h="771564">
                <a:tc>
                  <a:txBody>
                    <a:bodyPr/>
                    <a:lstStyle/>
                    <a:p>
                      <a:pPr marL="0" marR="0">
                        <a:lnSpc>
                          <a:spcPct val="115000"/>
                        </a:lnSpc>
                        <a:spcAft>
                          <a:spcPts val="800"/>
                        </a:spcAft>
                        <a:buNone/>
                      </a:pPr>
                      <a:r>
                        <a:rPr lang="en-US" sz="2300" kern="100" dirty="0">
                          <a:effectLst/>
                        </a:rPr>
                        <a:t>A11y automated checker</a:t>
                      </a:r>
                      <a:endParaRPr lang="en-US" sz="2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28992" marR="128992" marT="0" marB="0"/>
                </a:tc>
                <a:tc>
                  <a:txBody>
                    <a:bodyPr/>
                    <a:lstStyle/>
                    <a:p>
                      <a:pPr marL="0" marR="0">
                        <a:lnSpc>
                          <a:spcPct val="115000"/>
                        </a:lnSpc>
                        <a:spcAft>
                          <a:spcPts val="800"/>
                        </a:spcAft>
                        <a:buNone/>
                      </a:pPr>
                      <a:r>
                        <a:rPr lang="en-US" sz="2300" kern="100" dirty="0">
                          <a:effectLst/>
                        </a:rPr>
                        <a:t>MS Accessibility checker</a:t>
                      </a:r>
                      <a:endParaRPr lang="en-US" sz="2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28992" marR="128992" marT="0" marB="0"/>
                </a:tc>
                <a:extLst>
                  <a:ext uri="{0D108BD9-81ED-4DB2-BD59-A6C34878D82A}">
                    <a16:rowId xmlns:a16="http://schemas.microsoft.com/office/drawing/2014/main" val="2904024515"/>
                  </a:ext>
                </a:extLst>
              </a:tr>
              <a:tr h="376109">
                <a:tc>
                  <a:txBody>
                    <a:bodyPr/>
                    <a:lstStyle/>
                    <a:p>
                      <a:pPr marL="0" marR="0">
                        <a:lnSpc>
                          <a:spcPct val="115000"/>
                        </a:lnSpc>
                        <a:spcAft>
                          <a:spcPts val="800"/>
                        </a:spcAft>
                        <a:buNone/>
                      </a:pPr>
                      <a:r>
                        <a:rPr lang="en-US" sz="2300" kern="100" dirty="0">
                          <a:effectLst/>
                          <a:latin typeface="Aptos" panose="020B0004020202020204" pitchFamily="34" charset="0"/>
                          <a:ea typeface="Aptos" panose="020B0004020202020204" pitchFamily="34" charset="0"/>
                          <a:cs typeface="Times New Roman" panose="02020603050405020304" pitchFamily="18" charset="0"/>
                        </a:rPr>
                        <a:t>Not detected</a:t>
                      </a:r>
                    </a:p>
                  </a:txBody>
                  <a:tcPr marL="128992" marR="128992" marT="0" marB="0"/>
                </a:tc>
                <a:tc>
                  <a:txBody>
                    <a:bodyPr/>
                    <a:lstStyle/>
                    <a:p>
                      <a:pPr marL="0" marR="0">
                        <a:lnSpc>
                          <a:spcPct val="115000"/>
                        </a:lnSpc>
                        <a:spcAft>
                          <a:spcPts val="800"/>
                        </a:spcAft>
                        <a:buNone/>
                      </a:pPr>
                      <a:r>
                        <a:rPr lang="en-US" sz="2300" kern="100" dirty="0">
                          <a:effectLst/>
                          <a:latin typeface="Aptos" panose="020B0004020202020204" pitchFamily="34" charset="0"/>
                          <a:ea typeface="Aptos" panose="020B0004020202020204" pitchFamily="34" charset="0"/>
                          <a:cs typeface="Times New Roman" panose="02020603050405020304" pitchFamily="18" charset="0"/>
                        </a:rPr>
                        <a:t>Not detected</a:t>
                      </a:r>
                    </a:p>
                  </a:txBody>
                  <a:tcPr marL="128992" marR="128992" marT="0" marB="0"/>
                </a:tc>
                <a:extLst>
                  <a:ext uri="{0D108BD9-81ED-4DB2-BD59-A6C34878D82A}">
                    <a16:rowId xmlns:a16="http://schemas.microsoft.com/office/drawing/2014/main" val="4046348799"/>
                  </a:ext>
                </a:extLst>
              </a:tr>
            </a:tbl>
          </a:graphicData>
        </a:graphic>
      </p:graphicFrame>
      <p:graphicFrame>
        <p:nvGraphicFramePr>
          <p:cNvPr id="5" name="Table 4">
            <a:extLst>
              <a:ext uri="{FF2B5EF4-FFF2-40B4-BE49-F238E27FC236}">
                <a16:creationId xmlns:a16="http://schemas.microsoft.com/office/drawing/2014/main" id="{E04B3EF0-5377-5C66-0EE9-170F0C3E6B17}"/>
              </a:ext>
            </a:extLst>
          </p:cNvPr>
          <p:cNvGraphicFramePr>
            <a:graphicFrameLocks noGrp="1"/>
          </p:cNvGraphicFramePr>
          <p:nvPr>
            <p:extLst>
              <p:ext uri="{D42A27DB-BD31-4B8C-83A1-F6EECF244321}">
                <p14:modId xmlns:p14="http://schemas.microsoft.com/office/powerpoint/2010/main" val="2995655455"/>
              </p:ext>
            </p:extLst>
          </p:nvPr>
        </p:nvGraphicFramePr>
        <p:xfrm>
          <a:off x="5725432" y="1895942"/>
          <a:ext cx="5820682" cy="2022916"/>
        </p:xfrm>
        <a:graphic>
          <a:graphicData uri="http://schemas.openxmlformats.org/drawingml/2006/table">
            <a:tbl>
              <a:tblPr firstRow="1"/>
              <a:tblGrid>
                <a:gridCol w="1454859">
                  <a:extLst>
                    <a:ext uri="{9D8B030D-6E8A-4147-A177-3AD203B41FA5}">
                      <a16:colId xmlns:a16="http://schemas.microsoft.com/office/drawing/2014/main" val="3545142912"/>
                    </a:ext>
                  </a:extLst>
                </a:gridCol>
                <a:gridCol w="1454859">
                  <a:extLst>
                    <a:ext uri="{9D8B030D-6E8A-4147-A177-3AD203B41FA5}">
                      <a16:colId xmlns:a16="http://schemas.microsoft.com/office/drawing/2014/main" val="931170384"/>
                    </a:ext>
                  </a:extLst>
                </a:gridCol>
                <a:gridCol w="1455482">
                  <a:extLst>
                    <a:ext uri="{9D8B030D-6E8A-4147-A177-3AD203B41FA5}">
                      <a16:colId xmlns:a16="http://schemas.microsoft.com/office/drawing/2014/main" val="465691830"/>
                    </a:ext>
                  </a:extLst>
                </a:gridCol>
                <a:gridCol w="1455482">
                  <a:extLst>
                    <a:ext uri="{9D8B030D-6E8A-4147-A177-3AD203B41FA5}">
                      <a16:colId xmlns:a16="http://schemas.microsoft.com/office/drawing/2014/main" val="1581414238"/>
                    </a:ext>
                  </a:extLst>
                </a:gridCol>
              </a:tblGrid>
              <a:tr h="505729">
                <a:tc>
                  <a:txBody>
                    <a:bodyPr/>
                    <a:lstStyle/>
                    <a:p>
                      <a:pPr marL="0" marR="0">
                        <a:lnSpc>
                          <a:spcPct val="115000"/>
                        </a:lnSpc>
                        <a:spcAft>
                          <a:spcPts val="800"/>
                        </a:spcAft>
                        <a:buNone/>
                      </a:pPr>
                      <a:r>
                        <a:rPr lang="en-US" sz="1200" b="1"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Time</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nSpc>
                          <a:spcPct val="115000"/>
                        </a:lnSpc>
                        <a:spcAft>
                          <a:spcPts val="800"/>
                        </a:spcAft>
                        <a:buNone/>
                      </a:pPr>
                      <a:r>
                        <a:rPr lang="en-US" sz="1200" b="1"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Monday</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nSpc>
                          <a:spcPct val="115000"/>
                        </a:lnSpc>
                        <a:spcAft>
                          <a:spcPts val="800"/>
                        </a:spcAft>
                        <a:buNone/>
                      </a:pPr>
                      <a:r>
                        <a:rPr lang="en-US" sz="1200" b="1"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Wednesday</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nSpc>
                          <a:spcPct val="115000"/>
                        </a:lnSpc>
                        <a:spcAft>
                          <a:spcPts val="800"/>
                        </a:spcAft>
                        <a:buNone/>
                      </a:pPr>
                      <a:r>
                        <a:rPr lang="en-US" sz="1200" b="1"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Friday</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3303257"/>
                  </a:ext>
                </a:extLst>
              </a:tr>
              <a:tr h="505729">
                <a:tc>
                  <a:txBody>
                    <a:bodyPr/>
                    <a:lstStyle/>
                    <a:p>
                      <a:pPr marL="0" marR="0">
                        <a:lnSpc>
                          <a:spcPct val="115000"/>
                        </a:lnSpc>
                        <a:spcAft>
                          <a:spcPts val="800"/>
                        </a:spcAft>
                        <a:buNone/>
                      </a:pPr>
                      <a:r>
                        <a:rPr lang="en-US" sz="1200" b="1"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8:00 – 9:00 AM</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Closed</a:t>
                      </a: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Open</a:t>
                      </a: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Open</a:t>
                      </a: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2117613"/>
                  </a:ext>
                </a:extLst>
              </a:tr>
              <a:tr h="505729">
                <a:tc>
                  <a:txBody>
                    <a:bodyPr/>
                    <a:lstStyle/>
                    <a:p>
                      <a:pPr marL="0" marR="0">
                        <a:lnSpc>
                          <a:spcPct val="115000"/>
                        </a:lnSpc>
                        <a:spcAft>
                          <a:spcPts val="800"/>
                        </a:spcAft>
                        <a:buNone/>
                      </a:pPr>
                      <a:r>
                        <a:rPr lang="en-US" sz="1200" b="1"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9:00 – 10:00 AM</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Open</a:t>
                      </a: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Closed</a:t>
                      </a: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Open</a:t>
                      </a: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6687725"/>
                  </a:ext>
                </a:extLst>
              </a:tr>
              <a:tr h="505729">
                <a:tc>
                  <a:txBody>
                    <a:bodyPr/>
                    <a:lstStyle/>
                    <a:p>
                      <a:pPr marL="0" marR="0">
                        <a:lnSpc>
                          <a:spcPct val="115000"/>
                        </a:lnSpc>
                        <a:spcAft>
                          <a:spcPts val="800"/>
                        </a:spcAft>
                        <a:buNone/>
                      </a:pPr>
                      <a:r>
                        <a:rPr lang="en-US" sz="1200" b="1"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10:00 – 11:00 AM</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Open</a:t>
                      </a: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Open</a:t>
                      </a: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Closed</a:t>
                      </a: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71461812"/>
                  </a:ext>
                </a:extLst>
              </a:tr>
            </a:tbl>
          </a:graphicData>
        </a:graphic>
      </p:graphicFrame>
    </p:spTree>
    <p:extLst>
      <p:ext uri="{BB962C8B-B14F-4D97-AF65-F5344CB8AC3E}">
        <p14:creationId xmlns:p14="http://schemas.microsoft.com/office/powerpoint/2010/main" val="1046262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25C26-4F3E-B78B-4730-21D96EA4B4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3F5F7D-ED18-1076-4AA3-5177CD7E88A1}"/>
              </a:ext>
            </a:extLst>
          </p:cNvPr>
          <p:cNvSpPr>
            <a:spLocks noGrp="1"/>
          </p:cNvSpPr>
          <p:nvPr>
            <p:ph type="title"/>
          </p:nvPr>
        </p:nvSpPr>
        <p:spPr/>
        <p:txBody>
          <a:bodyPr/>
          <a:lstStyle/>
          <a:p>
            <a:r>
              <a:rPr lang="en-US" b="1" dirty="0"/>
              <a:t>Irregular tables</a:t>
            </a:r>
          </a:p>
        </p:txBody>
      </p:sp>
      <p:sp>
        <p:nvSpPr>
          <p:cNvPr id="3" name="Content Placeholder 2">
            <a:extLst>
              <a:ext uri="{FF2B5EF4-FFF2-40B4-BE49-F238E27FC236}">
                <a16:creationId xmlns:a16="http://schemas.microsoft.com/office/drawing/2014/main" id="{AB008886-C9C8-9B82-C2B7-5F16F57C6144}"/>
              </a:ext>
            </a:extLst>
          </p:cNvPr>
          <p:cNvSpPr>
            <a:spLocks noGrp="1"/>
          </p:cNvSpPr>
          <p:nvPr>
            <p:ph idx="1"/>
          </p:nvPr>
        </p:nvSpPr>
        <p:spPr>
          <a:xfrm>
            <a:off x="838200" y="1825624"/>
            <a:ext cx="4350657" cy="2884261"/>
          </a:xfrm>
        </p:spPr>
        <p:txBody>
          <a:bodyPr>
            <a:normAutofit/>
          </a:bodyPr>
          <a:lstStyle/>
          <a:p>
            <a:pPr marL="0" indent="0">
              <a:buNone/>
            </a:pPr>
            <a:r>
              <a:rPr lang="en-US" dirty="0"/>
              <a:t>The following table has content that should be column headers and content that should be row headers per the visual affordances. </a:t>
            </a:r>
          </a:p>
        </p:txBody>
      </p:sp>
      <p:graphicFrame>
        <p:nvGraphicFramePr>
          <p:cNvPr id="6" name="Table 5">
            <a:extLst>
              <a:ext uri="{FF2B5EF4-FFF2-40B4-BE49-F238E27FC236}">
                <a16:creationId xmlns:a16="http://schemas.microsoft.com/office/drawing/2014/main" id="{C18B0AC4-4792-ACDE-8547-824FC35D3B96}"/>
              </a:ext>
            </a:extLst>
          </p:cNvPr>
          <p:cNvGraphicFramePr>
            <a:graphicFrameLocks noGrp="1"/>
          </p:cNvGraphicFramePr>
          <p:nvPr/>
        </p:nvGraphicFramePr>
        <p:xfrm>
          <a:off x="737869" y="4926451"/>
          <a:ext cx="5691960" cy="1169480"/>
        </p:xfrm>
        <a:graphic>
          <a:graphicData uri="http://schemas.openxmlformats.org/drawingml/2006/table">
            <a:tbl>
              <a:tblPr firstRow="1" bandRow="1">
                <a:tableStyleId>{5C22544A-7EE6-4342-B048-85BDC9FD1C3A}</a:tableStyleId>
              </a:tblPr>
              <a:tblGrid>
                <a:gridCol w="2740573">
                  <a:extLst>
                    <a:ext uri="{9D8B030D-6E8A-4147-A177-3AD203B41FA5}">
                      <a16:colId xmlns:a16="http://schemas.microsoft.com/office/drawing/2014/main" val="1997474820"/>
                    </a:ext>
                  </a:extLst>
                </a:gridCol>
                <a:gridCol w="2951387">
                  <a:extLst>
                    <a:ext uri="{9D8B030D-6E8A-4147-A177-3AD203B41FA5}">
                      <a16:colId xmlns:a16="http://schemas.microsoft.com/office/drawing/2014/main" val="123640046"/>
                    </a:ext>
                  </a:extLst>
                </a:gridCol>
              </a:tblGrid>
              <a:tr h="771564">
                <a:tc>
                  <a:txBody>
                    <a:bodyPr/>
                    <a:lstStyle/>
                    <a:p>
                      <a:pPr marL="0" marR="0">
                        <a:lnSpc>
                          <a:spcPct val="115000"/>
                        </a:lnSpc>
                        <a:spcAft>
                          <a:spcPts val="800"/>
                        </a:spcAft>
                        <a:buNone/>
                      </a:pPr>
                      <a:r>
                        <a:rPr lang="en-US" sz="2300" kern="100" dirty="0">
                          <a:effectLst/>
                        </a:rPr>
                        <a:t>A11y automated checker</a:t>
                      </a:r>
                      <a:endParaRPr lang="en-US" sz="2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28992" marR="128992" marT="0" marB="0"/>
                </a:tc>
                <a:tc>
                  <a:txBody>
                    <a:bodyPr/>
                    <a:lstStyle/>
                    <a:p>
                      <a:pPr marL="0" marR="0">
                        <a:lnSpc>
                          <a:spcPct val="115000"/>
                        </a:lnSpc>
                        <a:spcAft>
                          <a:spcPts val="800"/>
                        </a:spcAft>
                        <a:buNone/>
                      </a:pPr>
                      <a:r>
                        <a:rPr lang="en-US" sz="2300" kern="100" dirty="0">
                          <a:effectLst/>
                        </a:rPr>
                        <a:t>MS Accessibility checker</a:t>
                      </a:r>
                      <a:endParaRPr lang="en-US" sz="2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28992" marR="128992" marT="0" marB="0"/>
                </a:tc>
                <a:extLst>
                  <a:ext uri="{0D108BD9-81ED-4DB2-BD59-A6C34878D82A}">
                    <a16:rowId xmlns:a16="http://schemas.microsoft.com/office/drawing/2014/main" val="2904024515"/>
                  </a:ext>
                </a:extLst>
              </a:tr>
              <a:tr h="376109">
                <a:tc>
                  <a:txBody>
                    <a:bodyPr/>
                    <a:lstStyle/>
                    <a:p>
                      <a:pPr marL="0" marR="0">
                        <a:lnSpc>
                          <a:spcPct val="115000"/>
                        </a:lnSpc>
                        <a:spcAft>
                          <a:spcPts val="800"/>
                        </a:spcAft>
                        <a:buNone/>
                      </a:pPr>
                      <a:r>
                        <a:rPr lang="en-US" sz="2300" kern="100" dirty="0">
                          <a:effectLst/>
                          <a:latin typeface="Aptos" panose="020B0004020202020204" pitchFamily="34" charset="0"/>
                          <a:ea typeface="Aptos" panose="020B0004020202020204" pitchFamily="34" charset="0"/>
                          <a:cs typeface="Times New Roman" panose="02020603050405020304" pitchFamily="18" charset="0"/>
                        </a:rPr>
                        <a:t>Not detected</a:t>
                      </a:r>
                    </a:p>
                  </a:txBody>
                  <a:tcPr marL="128992" marR="128992" marT="0" marB="0"/>
                </a:tc>
                <a:tc>
                  <a:txBody>
                    <a:bodyPr/>
                    <a:lstStyle/>
                    <a:p>
                      <a:pPr marL="0" marR="0">
                        <a:lnSpc>
                          <a:spcPct val="115000"/>
                        </a:lnSpc>
                        <a:spcAft>
                          <a:spcPts val="800"/>
                        </a:spcAft>
                        <a:buNone/>
                      </a:pPr>
                      <a:r>
                        <a:rPr lang="en-US" sz="2300" kern="100" dirty="0">
                          <a:effectLst/>
                          <a:latin typeface="Aptos" panose="020B0004020202020204" pitchFamily="34" charset="0"/>
                          <a:ea typeface="Aptos" panose="020B0004020202020204" pitchFamily="34" charset="0"/>
                          <a:cs typeface="Times New Roman" panose="02020603050405020304" pitchFamily="18" charset="0"/>
                        </a:rPr>
                        <a:t>Not detected</a:t>
                      </a:r>
                    </a:p>
                  </a:txBody>
                  <a:tcPr marL="128992" marR="128992" marT="0" marB="0"/>
                </a:tc>
                <a:extLst>
                  <a:ext uri="{0D108BD9-81ED-4DB2-BD59-A6C34878D82A}">
                    <a16:rowId xmlns:a16="http://schemas.microsoft.com/office/drawing/2014/main" val="4046348799"/>
                  </a:ext>
                </a:extLst>
              </a:tr>
            </a:tbl>
          </a:graphicData>
        </a:graphic>
      </p:graphicFrame>
      <p:graphicFrame>
        <p:nvGraphicFramePr>
          <p:cNvPr id="7" name="Table 6">
            <a:extLst>
              <a:ext uri="{FF2B5EF4-FFF2-40B4-BE49-F238E27FC236}">
                <a16:creationId xmlns:a16="http://schemas.microsoft.com/office/drawing/2014/main" id="{319F77FE-D112-F3BB-6E0D-927FB4D84C4D}"/>
              </a:ext>
            </a:extLst>
          </p:cNvPr>
          <p:cNvGraphicFramePr>
            <a:graphicFrameLocks noGrp="1"/>
          </p:cNvGraphicFramePr>
          <p:nvPr>
            <p:extLst>
              <p:ext uri="{D42A27DB-BD31-4B8C-83A1-F6EECF244321}">
                <p14:modId xmlns:p14="http://schemas.microsoft.com/office/powerpoint/2010/main" val="3811602637"/>
              </p:ext>
            </p:extLst>
          </p:nvPr>
        </p:nvGraphicFramePr>
        <p:xfrm>
          <a:off x="5478690" y="2048340"/>
          <a:ext cx="5639253" cy="1897128"/>
        </p:xfrm>
        <a:graphic>
          <a:graphicData uri="http://schemas.openxmlformats.org/drawingml/2006/table">
            <a:tbl>
              <a:tblPr firstRow="1" firstCol="1"/>
              <a:tblGrid>
                <a:gridCol w="1321253">
                  <a:extLst>
                    <a:ext uri="{9D8B030D-6E8A-4147-A177-3AD203B41FA5}">
                      <a16:colId xmlns:a16="http://schemas.microsoft.com/office/drawing/2014/main" val="4004872482"/>
                    </a:ext>
                  </a:extLst>
                </a:gridCol>
                <a:gridCol w="1124857">
                  <a:extLst>
                    <a:ext uri="{9D8B030D-6E8A-4147-A177-3AD203B41FA5}">
                      <a16:colId xmlns:a16="http://schemas.microsoft.com/office/drawing/2014/main" val="2080546490"/>
                    </a:ext>
                  </a:extLst>
                </a:gridCol>
                <a:gridCol w="1219200">
                  <a:extLst>
                    <a:ext uri="{9D8B030D-6E8A-4147-A177-3AD203B41FA5}">
                      <a16:colId xmlns:a16="http://schemas.microsoft.com/office/drawing/2014/main" val="3224942234"/>
                    </a:ext>
                  </a:extLst>
                </a:gridCol>
                <a:gridCol w="997042">
                  <a:extLst>
                    <a:ext uri="{9D8B030D-6E8A-4147-A177-3AD203B41FA5}">
                      <a16:colId xmlns:a16="http://schemas.microsoft.com/office/drawing/2014/main" val="3928949089"/>
                    </a:ext>
                  </a:extLst>
                </a:gridCol>
                <a:gridCol w="976901">
                  <a:extLst>
                    <a:ext uri="{9D8B030D-6E8A-4147-A177-3AD203B41FA5}">
                      <a16:colId xmlns:a16="http://schemas.microsoft.com/office/drawing/2014/main" val="1397408791"/>
                    </a:ext>
                  </a:extLst>
                </a:gridCol>
              </a:tblGrid>
              <a:tr h="451301">
                <a:tc>
                  <a:txBody>
                    <a:bodyPr/>
                    <a:lstStyle/>
                    <a:p>
                      <a:pPr marL="0" marR="0">
                        <a:lnSpc>
                          <a:spcPct val="115000"/>
                        </a:lnSpc>
                        <a:spcAft>
                          <a:spcPts val="800"/>
                        </a:spcAft>
                        <a:buNone/>
                      </a:pPr>
                      <a:r>
                        <a:rPr lang="en-US" sz="1200" b="1" kern="100">
                          <a:effectLst/>
                          <a:latin typeface="Aptos" panose="020B0004020202020204" pitchFamily="34" charset="0"/>
                          <a:ea typeface="Aptos" panose="020B0004020202020204" pitchFamily="34" charset="0"/>
                          <a:cs typeface="Times New Roman" panose="02020603050405020304" pitchFamily="18" charset="0"/>
                        </a:rPr>
                        <a:t> </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gridSpan="2">
                  <a:txBody>
                    <a:bodyPr/>
                    <a:lstStyle/>
                    <a:p>
                      <a:pPr marL="0" marR="0" algn="ctr">
                        <a:lnSpc>
                          <a:spcPct val="115000"/>
                        </a:lnSpc>
                        <a:spcAft>
                          <a:spcPts val="800"/>
                        </a:spcAft>
                        <a:buNone/>
                      </a:pPr>
                      <a:r>
                        <a:rPr lang="en-US" sz="12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Mars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tc gridSpan="2">
                  <a:txBody>
                    <a:bodyPr/>
                    <a:lstStyle/>
                    <a:p>
                      <a:pPr marL="0" marR="0" algn="ctr">
                        <a:lnSpc>
                          <a:spcPct val="115000"/>
                        </a:lnSpc>
                        <a:spcAft>
                          <a:spcPts val="800"/>
                        </a:spcAft>
                        <a:buNone/>
                      </a:pPr>
                      <a:r>
                        <a:rPr lang="en-US" sz="12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Venus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en-US"/>
                    </a:p>
                  </a:txBody>
                  <a:tcPr/>
                </a:tc>
                <a:extLst>
                  <a:ext uri="{0D108BD9-81ED-4DB2-BD59-A6C34878D82A}">
                    <a16:rowId xmlns:a16="http://schemas.microsoft.com/office/drawing/2014/main" val="3885877995"/>
                  </a:ext>
                </a:extLst>
              </a:tr>
              <a:tr h="451301">
                <a:tc>
                  <a:txBody>
                    <a:bodyPr/>
                    <a:lstStyle/>
                    <a:p>
                      <a:pPr marL="0" marR="0">
                        <a:lnSpc>
                          <a:spcPct val="115000"/>
                        </a:lnSpc>
                        <a:spcAft>
                          <a:spcPts val="800"/>
                        </a:spcAft>
                        <a:buNone/>
                      </a:pPr>
                      <a:r>
                        <a:rPr lang="en-US" sz="1200" b="1" kern="100">
                          <a:effectLst/>
                          <a:latin typeface="Aptos" panose="020B0004020202020204" pitchFamily="34" charset="0"/>
                          <a:ea typeface="Aptos" panose="020B0004020202020204" pitchFamily="34" charset="0"/>
                          <a:cs typeface="Times New Roman" panose="02020603050405020304" pitchFamily="18" charset="0"/>
                        </a:rPr>
                        <a:t> </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15000"/>
                        </a:lnSpc>
                        <a:spcAft>
                          <a:spcPts val="800"/>
                        </a:spcAft>
                        <a:buNone/>
                      </a:pPr>
                      <a:r>
                        <a:rPr lang="en-US" sz="12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Produced</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15000"/>
                        </a:lnSpc>
                        <a:spcAft>
                          <a:spcPts val="800"/>
                        </a:spcAft>
                        <a:buNone/>
                      </a:pPr>
                      <a:r>
                        <a:rPr lang="en-US" sz="12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Sold</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15000"/>
                        </a:lnSpc>
                        <a:spcAft>
                          <a:spcPts val="800"/>
                        </a:spcAft>
                        <a:buNone/>
                      </a:pPr>
                      <a:r>
                        <a:rPr lang="en-US" sz="12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Produced</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15000"/>
                        </a:lnSpc>
                        <a:spcAft>
                          <a:spcPts val="800"/>
                        </a:spcAft>
                        <a:buNone/>
                      </a:pPr>
                      <a:r>
                        <a:rPr lang="en-US" sz="12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Sold</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281501420"/>
                  </a:ext>
                </a:extLst>
              </a:tr>
              <a:tr h="451301">
                <a:tc>
                  <a:txBody>
                    <a:bodyPr/>
                    <a:lstStyle/>
                    <a:p>
                      <a:pPr marL="0" marR="0">
                        <a:lnSpc>
                          <a:spcPct val="115000"/>
                        </a:lnSpc>
                        <a:spcAft>
                          <a:spcPts val="800"/>
                        </a:spcAft>
                        <a:buNone/>
                      </a:pPr>
                      <a:r>
                        <a:rPr lang="en-US" sz="12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Teddy Bears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50,000</a:t>
                      </a: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30,000</a:t>
                      </a: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100,000</a:t>
                      </a: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80,000</a:t>
                      </a: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33641098"/>
                  </a:ext>
                </a:extLst>
              </a:tr>
              <a:tr h="451301">
                <a:tc>
                  <a:txBody>
                    <a:bodyPr/>
                    <a:lstStyle/>
                    <a:p>
                      <a:pPr marL="0" marR="0">
                        <a:lnSpc>
                          <a:spcPct val="115000"/>
                        </a:lnSpc>
                        <a:spcAft>
                          <a:spcPts val="800"/>
                        </a:spcAft>
                        <a:buNone/>
                      </a:pPr>
                      <a:r>
                        <a:rPr lang="en-US" sz="12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Board Games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10,000</a:t>
                      </a: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5,000</a:t>
                      </a: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effectLst/>
                          <a:latin typeface="Aptos" panose="020B0004020202020204" pitchFamily="34" charset="0"/>
                          <a:ea typeface="Aptos" panose="020B0004020202020204" pitchFamily="34" charset="0"/>
                          <a:cs typeface="Times New Roman" panose="02020603050405020304" pitchFamily="18" charset="0"/>
                        </a:rPr>
                        <a:t>12,000</a:t>
                      </a: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9,000</a:t>
                      </a:r>
                    </a:p>
                  </a:txBody>
                  <a:tcPr marL="137160" marR="137160" marT="137160" marB="13716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79593981"/>
                  </a:ext>
                </a:extLst>
              </a:tr>
            </a:tbl>
          </a:graphicData>
        </a:graphic>
      </p:graphicFrame>
    </p:spTree>
    <p:extLst>
      <p:ext uri="{BB962C8B-B14F-4D97-AF65-F5344CB8AC3E}">
        <p14:creationId xmlns:p14="http://schemas.microsoft.com/office/powerpoint/2010/main" val="938563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8FF4E-832E-745A-B1EC-0F26E84931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0E3B34-A8B0-874B-50B6-BECEB04AFB09}"/>
              </a:ext>
            </a:extLst>
          </p:cNvPr>
          <p:cNvSpPr>
            <a:spLocks noGrp="1"/>
          </p:cNvSpPr>
          <p:nvPr>
            <p:ph type="title"/>
          </p:nvPr>
        </p:nvSpPr>
        <p:spPr/>
        <p:txBody>
          <a:bodyPr/>
          <a:lstStyle/>
          <a:p>
            <a:r>
              <a:rPr lang="en-US" b="1" dirty="0"/>
              <a:t>Multiple headers</a:t>
            </a:r>
          </a:p>
        </p:txBody>
      </p:sp>
      <p:sp>
        <p:nvSpPr>
          <p:cNvPr id="3" name="Content Placeholder 2">
            <a:extLst>
              <a:ext uri="{FF2B5EF4-FFF2-40B4-BE49-F238E27FC236}">
                <a16:creationId xmlns:a16="http://schemas.microsoft.com/office/drawing/2014/main" id="{3607E582-967C-8637-033C-40C9CAFF755F}"/>
              </a:ext>
            </a:extLst>
          </p:cNvPr>
          <p:cNvSpPr>
            <a:spLocks noGrp="1"/>
          </p:cNvSpPr>
          <p:nvPr>
            <p:ph idx="1"/>
          </p:nvPr>
        </p:nvSpPr>
        <p:spPr>
          <a:xfrm>
            <a:off x="838200" y="1825624"/>
            <a:ext cx="4350657" cy="2884261"/>
          </a:xfrm>
        </p:spPr>
        <p:txBody>
          <a:bodyPr>
            <a:normAutofit/>
          </a:bodyPr>
          <a:lstStyle/>
          <a:p>
            <a:pPr marL="0" indent="0">
              <a:buNone/>
            </a:pPr>
            <a:r>
              <a:rPr lang="en-US" dirty="0"/>
              <a:t>Not detected as an issue even though it is an issue. Best way to fix is to separate into two tables.</a:t>
            </a:r>
          </a:p>
        </p:txBody>
      </p:sp>
      <p:graphicFrame>
        <p:nvGraphicFramePr>
          <p:cNvPr id="6" name="Table 5">
            <a:extLst>
              <a:ext uri="{FF2B5EF4-FFF2-40B4-BE49-F238E27FC236}">
                <a16:creationId xmlns:a16="http://schemas.microsoft.com/office/drawing/2014/main" id="{ADC84597-471E-9D66-0AE1-1482750BD102}"/>
              </a:ext>
            </a:extLst>
          </p:cNvPr>
          <p:cNvGraphicFramePr>
            <a:graphicFrameLocks noGrp="1"/>
          </p:cNvGraphicFramePr>
          <p:nvPr/>
        </p:nvGraphicFramePr>
        <p:xfrm>
          <a:off x="737869" y="4926451"/>
          <a:ext cx="5691960" cy="1169480"/>
        </p:xfrm>
        <a:graphic>
          <a:graphicData uri="http://schemas.openxmlformats.org/drawingml/2006/table">
            <a:tbl>
              <a:tblPr firstRow="1" bandRow="1">
                <a:tableStyleId>{5C22544A-7EE6-4342-B048-85BDC9FD1C3A}</a:tableStyleId>
              </a:tblPr>
              <a:tblGrid>
                <a:gridCol w="2740573">
                  <a:extLst>
                    <a:ext uri="{9D8B030D-6E8A-4147-A177-3AD203B41FA5}">
                      <a16:colId xmlns:a16="http://schemas.microsoft.com/office/drawing/2014/main" val="1997474820"/>
                    </a:ext>
                  </a:extLst>
                </a:gridCol>
                <a:gridCol w="2951387">
                  <a:extLst>
                    <a:ext uri="{9D8B030D-6E8A-4147-A177-3AD203B41FA5}">
                      <a16:colId xmlns:a16="http://schemas.microsoft.com/office/drawing/2014/main" val="123640046"/>
                    </a:ext>
                  </a:extLst>
                </a:gridCol>
              </a:tblGrid>
              <a:tr h="771564">
                <a:tc>
                  <a:txBody>
                    <a:bodyPr/>
                    <a:lstStyle/>
                    <a:p>
                      <a:pPr marL="0" marR="0">
                        <a:lnSpc>
                          <a:spcPct val="115000"/>
                        </a:lnSpc>
                        <a:spcAft>
                          <a:spcPts val="800"/>
                        </a:spcAft>
                        <a:buNone/>
                      </a:pPr>
                      <a:r>
                        <a:rPr lang="en-US" sz="2300" kern="100" dirty="0">
                          <a:effectLst/>
                        </a:rPr>
                        <a:t>A11y automated checker</a:t>
                      </a:r>
                      <a:endParaRPr lang="en-US" sz="2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28992" marR="128992" marT="0" marB="0"/>
                </a:tc>
                <a:tc>
                  <a:txBody>
                    <a:bodyPr/>
                    <a:lstStyle/>
                    <a:p>
                      <a:pPr marL="0" marR="0">
                        <a:lnSpc>
                          <a:spcPct val="115000"/>
                        </a:lnSpc>
                        <a:spcAft>
                          <a:spcPts val="800"/>
                        </a:spcAft>
                        <a:buNone/>
                      </a:pPr>
                      <a:r>
                        <a:rPr lang="en-US" sz="2300" kern="100" dirty="0">
                          <a:effectLst/>
                        </a:rPr>
                        <a:t>MS Accessibility checker</a:t>
                      </a:r>
                      <a:endParaRPr lang="en-US" sz="2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28992" marR="128992" marT="0" marB="0"/>
                </a:tc>
                <a:extLst>
                  <a:ext uri="{0D108BD9-81ED-4DB2-BD59-A6C34878D82A}">
                    <a16:rowId xmlns:a16="http://schemas.microsoft.com/office/drawing/2014/main" val="2904024515"/>
                  </a:ext>
                </a:extLst>
              </a:tr>
              <a:tr h="376109">
                <a:tc>
                  <a:txBody>
                    <a:bodyPr/>
                    <a:lstStyle/>
                    <a:p>
                      <a:pPr marL="0" marR="0">
                        <a:lnSpc>
                          <a:spcPct val="115000"/>
                        </a:lnSpc>
                        <a:spcAft>
                          <a:spcPts val="800"/>
                        </a:spcAft>
                        <a:buNone/>
                      </a:pPr>
                      <a:r>
                        <a:rPr lang="en-US" sz="2300" kern="100" dirty="0">
                          <a:effectLst/>
                          <a:latin typeface="Aptos" panose="020B0004020202020204" pitchFamily="34" charset="0"/>
                          <a:ea typeface="Aptos" panose="020B0004020202020204" pitchFamily="34" charset="0"/>
                          <a:cs typeface="Times New Roman" panose="02020603050405020304" pitchFamily="18" charset="0"/>
                        </a:rPr>
                        <a:t>Not detected</a:t>
                      </a:r>
                    </a:p>
                  </a:txBody>
                  <a:tcPr marL="128992" marR="128992" marT="0" marB="0"/>
                </a:tc>
                <a:tc>
                  <a:txBody>
                    <a:bodyPr/>
                    <a:lstStyle/>
                    <a:p>
                      <a:pPr marL="0" marR="0">
                        <a:lnSpc>
                          <a:spcPct val="115000"/>
                        </a:lnSpc>
                        <a:spcAft>
                          <a:spcPts val="800"/>
                        </a:spcAft>
                        <a:buNone/>
                      </a:pPr>
                      <a:r>
                        <a:rPr lang="en-US" sz="2300" kern="100" dirty="0">
                          <a:effectLst/>
                          <a:latin typeface="Aptos" panose="020B0004020202020204" pitchFamily="34" charset="0"/>
                          <a:ea typeface="Aptos" panose="020B0004020202020204" pitchFamily="34" charset="0"/>
                          <a:cs typeface="Times New Roman" panose="02020603050405020304" pitchFamily="18" charset="0"/>
                        </a:rPr>
                        <a:t>Not detected</a:t>
                      </a:r>
                    </a:p>
                  </a:txBody>
                  <a:tcPr marL="128992" marR="128992" marT="0" marB="0"/>
                </a:tc>
                <a:extLst>
                  <a:ext uri="{0D108BD9-81ED-4DB2-BD59-A6C34878D82A}">
                    <a16:rowId xmlns:a16="http://schemas.microsoft.com/office/drawing/2014/main" val="4046348799"/>
                  </a:ext>
                </a:extLst>
              </a:tr>
            </a:tbl>
          </a:graphicData>
        </a:graphic>
      </p:graphicFrame>
      <p:graphicFrame>
        <p:nvGraphicFramePr>
          <p:cNvPr id="5" name="Table 4">
            <a:extLst>
              <a:ext uri="{FF2B5EF4-FFF2-40B4-BE49-F238E27FC236}">
                <a16:creationId xmlns:a16="http://schemas.microsoft.com/office/drawing/2014/main" id="{06677BBF-D472-7B18-4724-AC754F165E37}"/>
              </a:ext>
            </a:extLst>
          </p:cNvPr>
          <p:cNvGraphicFramePr>
            <a:graphicFrameLocks noGrp="1"/>
          </p:cNvGraphicFramePr>
          <p:nvPr>
            <p:extLst>
              <p:ext uri="{D42A27DB-BD31-4B8C-83A1-F6EECF244321}">
                <p14:modId xmlns:p14="http://schemas.microsoft.com/office/powerpoint/2010/main" val="2327418246"/>
              </p:ext>
            </p:extLst>
          </p:nvPr>
        </p:nvGraphicFramePr>
        <p:xfrm>
          <a:off x="5853021" y="1706619"/>
          <a:ext cx="5889036" cy="2756522"/>
        </p:xfrm>
        <a:graphic>
          <a:graphicData uri="http://schemas.openxmlformats.org/drawingml/2006/table">
            <a:tbl>
              <a:tblPr firstRow="1"/>
              <a:tblGrid>
                <a:gridCol w="1789452">
                  <a:extLst>
                    <a:ext uri="{9D8B030D-6E8A-4147-A177-3AD203B41FA5}">
                      <a16:colId xmlns:a16="http://schemas.microsoft.com/office/drawing/2014/main" val="1954250456"/>
                    </a:ext>
                  </a:extLst>
                </a:gridCol>
                <a:gridCol w="1902777">
                  <a:extLst>
                    <a:ext uri="{9D8B030D-6E8A-4147-A177-3AD203B41FA5}">
                      <a16:colId xmlns:a16="http://schemas.microsoft.com/office/drawing/2014/main" val="2711400012"/>
                    </a:ext>
                  </a:extLst>
                </a:gridCol>
                <a:gridCol w="2196807">
                  <a:extLst>
                    <a:ext uri="{9D8B030D-6E8A-4147-A177-3AD203B41FA5}">
                      <a16:colId xmlns:a16="http://schemas.microsoft.com/office/drawing/2014/main" val="3759251376"/>
                    </a:ext>
                  </a:extLst>
                </a:gridCol>
              </a:tblGrid>
              <a:tr h="272828">
                <a:tc>
                  <a:txBody>
                    <a:bodyPr/>
                    <a:lstStyle/>
                    <a:p>
                      <a:pPr marL="0" marR="0">
                        <a:lnSpc>
                          <a:spcPct val="115000"/>
                        </a:lnSpc>
                        <a:spcAft>
                          <a:spcPts val="800"/>
                        </a:spcAft>
                        <a:buNone/>
                      </a:pPr>
                      <a:r>
                        <a:rPr lang="en-US" sz="12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Details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15000"/>
                        </a:lnSpc>
                        <a:spcAft>
                          <a:spcPts val="800"/>
                        </a:spcAft>
                        <a:buNone/>
                      </a:pPr>
                      <a:r>
                        <a:rPr lang="en-US" sz="12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Example 2 Ltd</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15000"/>
                        </a:lnSpc>
                        <a:spcAft>
                          <a:spcPts val="800"/>
                        </a:spcAft>
                        <a:buNone/>
                      </a:pPr>
                      <a:r>
                        <a:rPr lang="en-US" sz="12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Example 2 Co</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65025372"/>
                  </a:ext>
                </a:extLst>
              </a:tr>
              <a:tr h="272828">
                <a:tc>
                  <a:txBody>
                    <a:bodyPr/>
                    <a:lstStyle/>
                    <a:p>
                      <a:pPr marL="0" marR="0">
                        <a:lnSpc>
                          <a:spcPct val="115000"/>
                        </a:lnSpc>
                        <a:spcAft>
                          <a:spcPts val="800"/>
                        </a:spcAft>
                        <a:buNone/>
                      </a:pPr>
                      <a:r>
                        <a:rPr lang="en-US" sz="1200" b="1" kern="100">
                          <a:solidFill>
                            <a:srgbClr val="000000"/>
                          </a:solidFill>
                          <a:effectLst/>
                          <a:latin typeface="Aptos" panose="020B0004020202020204" pitchFamily="34" charset="0"/>
                          <a:ea typeface="Aptos" panose="020B0004020202020204" pitchFamily="34" charset="0"/>
                          <a:cs typeface="Noto Sans" panose="020B0502040504020204" pitchFamily="34" charset="0"/>
                        </a:rPr>
                        <a:t>Contact</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15000"/>
                        </a:lnSpc>
                        <a:spcAft>
                          <a:spcPts val="800"/>
                        </a:spcAft>
                        <a:buNone/>
                      </a:pPr>
                      <a:r>
                        <a:rPr lang="en-US" sz="1200" kern="100">
                          <a:solidFill>
                            <a:srgbClr val="000000"/>
                          </a:solidFill>
                          <a:effectLst/>
                          <a:latin typeface="Aptos" panose="020B0004020202020204" pitchFamily="34" charset="0"/>
                          <a:ea typeface="Aptos" panose="020B0004020202020204" pitchFamily="34" charset="0"/>
                          <a:cs typeface="Noto Sans" panose="020B0502040504020204" pitchFamily="34" charset="0"/>
                        </a:rPr>
                        <a:t>James Phillips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solidFill>
                            <a:srgbClr val="000000"/>
                          </a:solidFill>
                          <a:effectLst/>
                          <a:latin typeface="Aptos" panose="020B0004020202020204" pitchFamily="34" charset="0"/>
                          <a:ea typeface="Aptos" panose="020B0004020202020204" pitchFamily="34" charset="0"/>
                          <a:cs typeface="Noto Sans" panose="020B0502040504020204" pitchFamily="34" charset="0"/>
                        </a:rPr>
                        <a:t>Marie Beauchamp</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52801403"/>
                  </a:ext>
                </a:extLst>
              </a:tr>
              <a:tr h="272828">
                <a:tc>
                  <a:txBody>
                    <a:bodyPr/>
                    <a:lstStyle/>
                    <a:p>
                      <a:pPr marL="0" marR="0">
                        <a:lnSpc>
                          <a:spcPct val="115000"/>
                        </a:lnSpc>
                        <a:spcAft>
                          <a:spcPts val="800"/>
                        </a:spcAft>
                        <a:buNone/>
                      </a:pPr>
                      <a:r>
                        <a:rPr lang="en-US" sz="1200" b="1" kern="100">
                          <a:solidFill>
                            <a:srgbClr val="000000"/>
                          </a:solidFill>
                          <a:effectLst/>
                          <a:latin typeface="Aptos" panose="020B0004020202020204" pitchFamily="34" charset="0"/>
                          <a:ea typeface="Aptos" panose="020B0004020202020204" pitchFamily="34" charset="0"/>
                          <a:cs typeface="Noto Sans" panose="020B0502040504020204" pitchFamily="34" charset="0"/>
                        </a:rPr>
                        <a:t>Position</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15000"/>
                        </a:lnSpc>
                        <a:spcAft>
                          <a:spcPts val="800"/>
                        </a:spcAft>
                        <a:buNone/>
                      </a:pPr>
                      <a:r>
                        <a:rPr lang="en-US" sz="1200" kern="100">
                          <a:solidFill>
                            <a:srgbClr val="000000"/>
                          </a:solidFill>
                          <a:effectLst/>
                          <a:latin typeface="Aptos" panose="020B0004020202020204" pitchFamily="34" charset="0"/>
                          <a:ea typeface="Aptos" panose="020B0004020202020204" pitchFamily="34" charset="0"/>
                          <a:cs typeface="Noto Sans" panose="020B0502040504020204" pitchFamily="34" charset="0"/>
                        </a:rPr>
                        <a:t>Sales Director</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solidFill>
                            <a:srgbClr val="000000"/>
                          </a:solidFill>
                          <a:effectLst/>
                          <a:latin typeface="Aptos" panose="020B0004020202020204" pitchFamily="34" charset="0"/>
                          <a:ea typeface="Aptos" panose="020B0004020202020204" pitchFamily="34" charset="0"/>
                          <a:cs typeface="Noto Sans" panose="020B0502040504020204" pitchFamily="34" charset="0"/>
                        </a:rPr>
                        <a:t>Sales Manager</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97032601"/>
                  </a:ext>
                </a:extLst>
              </a:tr>
              <a:tr h="559777">
                <a:tc>
                  <a:txBody>
                    <a:bodyPr/>
                    <a:lstStyle/>
                    <a:p>
                      <a:pPr marL="0" marR="0">
                        <a:lnSpc>
                          <a:spcPct val="115000"/>
                        </a:lnSpc>
                        <a:spcAft>
                          <a:spcPts val="800"/>
                        </a:spcAft>
                        <a:buNone/>
                      </a:pPr>
                      <a:r>
                        <a:rPr lang="en-US" sz="1200" b="1" kern="100">
                          <a:solidFill>
                            <a:srgbClr val="000000"/>
                          </a:solidFill>
                          <a:effectLst/>
                          <a:latin typeface="Aptos" panose="020B0004020202020204" pitchFamily="34" charset="0"/>
                          <a:ea typeface="Aptos" panose="020B0004020202020204" pitchFamily="34" charset="0"/>
                          <a:cs typeface="Noto Sans" panose="020B0502040504020204" pitchFamily="34" charset="0"/>
                        </a:rPr>
                        <a:t>Email</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15000"/>
                        </a:lnSpc>
                        <a:spcAft>
                          <a:spcPts val="800"/>
                        </a:spcAft>
                        <a:buNone/>
                      </a:pPr>
                      <a:r>
                        <a:rPr lang="en-US" sz="1200" kern="100">
                          <a:solidFill>
                            <a:srgbClr val="000000"/>
                          </a:solidFill>
                          <a:effectLst/>
                          <a:latin typeface="Aptos" panose="020B0004020202020204" pitchFamily="34" charset="0"/>
                          <a:ea typeface="Aptos" panose="020B0004020202020204" pitchFamily="34" charset="0"/>
                          <a:cs typeface="Noto Sans" panose="020B0502040504020204" pitchFamily="34" charset="0"/>
                        </a:rPr>
                        <a:t>jp@1ltd.example.com</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solidFill>
                            <a:srgbClr val="000000"/>
                          </a:solidFill>
                          <a:effectLst/>
                          <a:latin typeface="Aptos" panose="020B0004020202020204" pitchFamily="34" charset="0"/>
                          <a:ea typeface="Aptos" panose="020B0004020202020204" pitchFamily="34" charset="0"/>
                          <a:cs typeface="Noto Sans" panose="020B0502040504020204" pitchFamily="34" charset="0"/>
                        </a:rPr>
                        <a:t>marie@2co.example.com</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0662909"/>
                  </a:ext>
                </a:extLst>
              </a:tr>
              <a:tr h="272828">
                <a:tc>
                  <a:txBody>
                    <a:bodyPr/>
                    <a:lstStyle/>
                    <a:p>
                      <a:pPr marL="0" marR="0">
                        <a:lnSpc>
                          <a:spcPct val="115000"/>
                        </a:lnSpc>
                        <a:spcAft>
                          <a:spcPts val="800"/>
                        </a:spcAft>
                        <a:buNone/>
                      </a:pPr>
                      <a:r>
                        <a:rPr lang="en-US" sz="12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Details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15000"/>
                        </a:lnSpc>
                        <a:spcAft>
                          <a:spcPts val="800"/>
                        </a:spcAft>
                        <a:buNone/>
                      </a:pPr>
                      <a:r>
                        <a:rPr lang="en-US" sz="12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Example 3 Ltd </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15000"/>
                        </a:lnSpc>
                        <a:spcAft>
                          <a:spcPts val="800"/>
                        </a:spcAft>
                        <a:buNone/>
                      </a:pPr>
                      <a:r>
                        <a:rPr lang="en-US" sz="12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Example 4 Inc</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454793685"/>
                  </a:ext>
                </a:extLst>
              </a:tr>
              <a:tr h="272828">
                <a:tc>
                  <a:txBody>
                    <a:bodyPr/>
                    <a:lstStyle/>
                    <a:p>
                      <a:pPr marL="0" marR="0">
                        <a:lnSpc>
                          <a:spcPct val="115000"/>
                        </a:lnSpc>
                        <a:spcAft>
                          <a:spcPts val="800"/>
                        </a:spcAft>
                        <a:buNone/>
                      </a:pPr>
                      <a:r>
                        <a:rPr lang="en-US" sz="1200" b="1" kern="100">
                          <a:solidFill>
                            <a:srgbClr val="000000"/>
                          </a:solidFill>
                          <a:effectLst/>
                          <a:latin typeface="Aptos" panose="020B0004020202020204" pitchFamily="34" charset="0"/>
                          <a:ea typeface="Aptos" panose="020B0004020202020204" pitchFamily="34" charset="0"/>
                          <a:cs typeface="Noto Sans" panose="020B0502040504020204" pitchFamily="34" charset="0"/>
                        </a:rPr>
                        <a:t>Contact</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15000"/>
                        </a:lnSpc>
                        <a:spcAft>
                          <a:spcPts val="800"/>
                        </a:spcAft>
                        <a:buNone/>
                      </a:pPr>
                      <a:r>
                        <a:rPr lang="en-US" sz="1200" kern="100">
                          <a:solidFill>
                            <a:srgbClr val="000000"/>
                          </a:solidFill>
                          <a:effectLst/>
                          <a:latin typeface="Aptos" panose="020B0004020202020204" pitchFamily="34" charset="0"/>
                          <a:ea typeface="Aptos" panose="020B0004020202020204" pitchFamily="34" charset="0"/>
                          <a:cs typeface="Noto Sans" panose="020B0502040504020204" pitchFamily="34" charset="0"/>
                        </a:rPr>
                        <a:t>Suzette Jones</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solidFill>
                            <a:srgbClr val="000000"/>
                          </a:solidFill>
                          <a:effectLst/>
                          <a:latin typeface="Aptos" panose="020B0004020202020204" pitchFamily="34" charset="0"/>
                          <a:ea typeface="Aptos" panose="020B0004020202020204" pitchFamily="34" charset="0"/>
                          <a:cs typeface="Noto Sans" panose="020B0502040504020204" pitchFamily="34" charset="0"/>
                        </a:rPr>
                        <a:t>Alex Howe</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7228604"/>
                  </a:ext>
                </a:extLst>
              </a:tr>
              <a:tr h="272828">
                <a:tc>
                  <a:txBody>
                    <a:bodyPr/>
                    <a:lstStyle/>
                    <a:p>
                      <a:pPr marL="0" marR="0">
                        <a:lnSpc>
                          <a:spcPct val="115000"/>
                        </a:lnSpc>
                        <a:spcAft>
                          <a:spcPts val="800"/>
                        </a:spcAft>
                        <a:buNone/>
                      </a:pPr>
                      <a:r>
                        <a:rPr lang="en-US" sz="1200" b="1" kern="100">
                          <a:solidFill>
                            <a:srgbClr val="000000"/>
                          </a:solidFill>
                          <a:effectLst/>
                          <a:latin typeface="Aptos" panose="020B0004020202020204" pitchFamily="34" charset="0"/>
                          <a:ea typeface="Aptos" panose="020B0004020202020204" pitchFamily="34" charset="0"/>
                          <a:cs typeface="Noto Sans" panose="020B0502040504020204" pitchFamily="34" charset="0"/>
                        </a:rPr>
                        <a:t>Position</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15000"/>
                        </a:lnSpc>
                        <a:spcAft>
                          <a:spcPts val="800"/>
                        </a:spcAft>
                        <a:buNone/>
                      </a:pPr>
                      <a:r>
                        <a:rPr lang="en-US" sz="1200" kern="100">
                          <a:solidFill>
                            <a:srgbClr val="000000"/>
                          </a:solidFill>
                          <a:effectLst/>
                          <a:latin typeface="Aptos" panose="020B0004020202020204" pitchFamily="34" charset="0"/>
                          <a:ea typeface="Aptos" panose="020B0004020202020204" pitchFamily="34" charset="0"/>
                          <a:cs typeface="Noto Sans" panose="020B0502040504020204" pitchFamily="34" charset="0"/>
                        </a:rPr>
                        <a:t>Sales Officer</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a:solidFill>
                            <a:srgbClr val="000000"/>
                          </a:solidFill>
                          <a:effectLst/>
                          <a:latin typeface="Aptos" panose="020B0004020202020204" pitchFamily="34" charset="0"/>
                          <a:ea typeface="Aptos" panose="020B0004020202020204" pitchFamily="34" charset="0"/>
                          <a:cs typeface="Noto Sans" panose="020B0502040504020204" pitchFamily="34" charset="0"/>
                        </a:rPr>
                        <a:t>Sales Director</a:t>
                      </a:r>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79940623"/>
                  </a:ext>
                </a:extLst>
              </a:tr>
              <a:tr h="559777">
                <a:tc>
                  <a:txBody>
                    <a:bodyPr/>
                    <a:lstStyle/>
                    <a:p>
                      <a:pPr marL="0" marR="0">
                        <a:lnSpc>
                          <a:spcPct val="115000"/>
                        </a:lnSpc>
                        <a:spcAft>
                          <a:spcPts val="800"/>
                        </a:spcAft>
                        <a:buNone/>
                      </a:pPr>
                      <a:r>
                        <a:rPr lang="en-US" sz="1200" b="1" kern="100" dirty="0">
                          <a:solidFill>
                            <a:srgbClr val="000000"/>
                          </a:solidFill>
                          <a:effectLst/>
                          <a:latin typeface="Aptos" panose="020B0004020202020204" pitchFamily="34" charset="0"/>
                          <a:ea typeface="Aptos" panose="020B0004020202020204" pitchFamily="34" charset="0"/>
                          <a:cs typeface="Noto Sans" panose="020B0502040504020204" pitchFamily="34" charset="0"/>
                        </a:rPr>
                        <a:t>Email</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nSpc>
                          <a:spcPct val="115000"/>
                        </a:lnSpc>
                        <a:spcAft>
                          <a:spcPts val="800"/>
                        </a:spcAft>
                        <a:buNone/>
                      </a:pPr>
                      <a:r>
                        <a:rPr lang="en-US" sz="1200" kern="100" dirty="0">
                          <a:solidFill>
                            <a:srgbClr val="000000"/>
                          </a:solidFill>
                          <a:effectLst/>
                          <a:latin typeface="Aptos" panose="020B0004020202020204" pitchFamily="34" charset="0"/>
                          <a:ea typeface="Aptos" panose="020B0004020202020204" pitchFamily="34" charset="0"/>
                          <a:cs typeface="Noto Sans" panose="020B0502040504020204" pitchFamily="34" charset="0"/>
                        </a:rPr>
                        <a:t>Suz@ltd3.example.com</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800"/>
                        </a:spcAft>
                        <a:buNone/>
                      </a:pPr>
                      <a:r>
                        <a:rPr lang="en-US" sz="1200" kern="100" dirty="0">
                          <a:solidFill>
                            <a:srgbClr val="000000"/>
                          </a:solidFill>
                          <a:effectLst/>
                          <a:latin typeface="Aptos" panose="020B0004020202020204" pitchFamily="34" charset="0"/>
                          <a:ea typeface="Aptos" panose="020B0004020202020204" pitchFamily="34" charset="0"/>
                          <a:cs typeface="Noto Sans" panose="020B0502040504020204" pitchFamily="34" charset="0"/>
                        </a:rPr>
                        <a:t>howe@4inc.example.com</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2547333"/>
                  </a:ext>
                </a:extLst>
              </a:tr>
            </a:tbl>
          </a:graphicData>
        </a:graphic>
      </p:graphicFrame>
    </p:spTree>
    <p:extLst>
      <p:ext uri="{BB962C8B-B14F-4D97-AF65-F5344CB8AC3E}">
        <p14:creationId xmlns:p14="http://schemas.microsoft.com/office/powerpoint/2010/main" val="570273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7D624-C1BC-28B2-4D2A-D48A7E6985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1FAED1-8AF7-1860-21A5-3CB9458752EB}"/>
              </a:ext>
            </a:extLst>
          </p:cNvPr>
          <p:cNvSpPr>
            <a:spLocks noGrp="1"/>
          </p:cNvSpPr>
          <p:nvPr>
            <p:ph type="title"/>
          </p:nvPr>
        </p:nvSpPr>
        <p:spPr/>
        <p:txBody>
          <a:bodyPr/>
          <a:lstStyle/>
          <a:p>
            <a:r>
              <a:rPr lang="en-US" b="1" dirty="0"/>
              <a:t>Table captions</a:t>
            </a:r>
          </a:p>
        </p:txBody>
      </p:sp>
      <p:sp>
        <p:nvSpPr>
          <p:cNvPr id="3" name="Content Placeholder 2">
            <a:extLst>
              <a:ext uri="{FF2B5EF4-FFF2-40B4-BE49-F238E27FC236}">
                <a16:creationId xmlns:a16="http://schemas.microsoft.com/office/drawing/2014/main" id="{5D54DC62-7A65-C929-6DD0-5D848528228E}"/>
              </a:ext>
            </a:extLst>
          </p:cNvPr>
          <p:cNvSpPr>
            <a:spLocks noGrp="1"/>
          </p:cNvSpPr>
          <p:nvPr>
            <p:ph idx="1"/>
          </p:nvPr>
        </p:nvSpPr>
        <p:spPr>
          <a:xfrm>
            <a:off x="838200" y="1825625"/>
            <a:ext cx="9619343" cy="2441576"/>
          </a:xfrm>
        </p:spPr>
        <p:txBody>
          <a:bodyPr>
            <a:normAutofit/>
          </a:bodyPr>
          <a:lstStyle/>
          <a:p>
            <a:pPr marL="0" indent="0">
              <a:buNone/>
            </a:pPr>
            <a:r>
              <a:rPr lang="en-US" dirty="0"/>
              <a:t>Table captions are called out as accessibility errors in the Rich Content Editor in Canvas but they do not show up in the Accessibility Dashboard, nor do they impact the accessibility conformance of the table. They are not required to meet WCAG but may offer value for screen reader users and can be considered a best practice.</a:t>
            </a:r>
          </a:p>
        </p:txBody>
      </p:sp>
      <p:graphicFrame>
        <p:nvGraphicFramePr>
          <p:cNvPr id="6" name="Table 5">
            <a:extLst>
              <a:ext uri="{FF2B5EF4-FFF2-40B4-BE49-F238E27FC236}">
                <a16:creationId xmlns:a16="http://schemas.microsoft.com/office/drawing/2014/main" id="{85941441-FF79-DA6B-B0C7-6650BC679F68}"/>
              </a:ext>
            </a:extLst>
          </p:cNvPr>
          <p:cNvGraphicFramePr>
            <a:graphicFrameLocks noGrp="1"/>
          </p:cNvGraphicFramePr>
          <p:nvPr>
            <p:extLst>
              <p:ext uri="{D42A27DB-BD31-4B8C-83A1-F6EECF244321}">
                <p14:modId xmlns:p14="http://schemas.microsoft.com/office/powerpoint/2010/main" val="89878932"/>
              </p:ext>
            </p:extLst>
          </p:nvPr>
        </p:nvGraphicFramePr>
        <p:xfrm>
          <a:off x="737869" y="4926451"/>
          <a:ext cx="5691960" cy="1169480"/>
        </p:xfrm>
        <a:graphic>
          <a:graphicData uri="http://schemas.openxmlformats.org/drawingml/2006/table">
            <a:tbl>
              <a:tblPr firstRow="1" bandRow="1">
                <a:tableStyleId>{5C22544A-7EE6-4342-B048-85BDC9FD1C3A}</a:tableStyleId>
              </a:tblPr>
              <a:tblGrid>
                <a:gridCol w="2740573">
                  <a:extLst>
                    <a:ext uri="{9D8B030D-6E8A-4147-A177-3AD203B41FA5}">
                      <a16:colId xmlns:a16="http://schemas.microsoft.com/office/drawing/2014/main" val="1997474820"/>
                    </a:ext>
                  </a:extLst>
                </a:gridCol>
                <a:gridCol w="2951387">
                  <a:extLst>
                    <a:ext uri="{9D8B030D-6E8A-4147-A177-3AD203B41FA5}">
                      <a16:colId xmlns:a16="http://schemas.microsoft.com/office/drawing/2014/main" val="123640046"/>
                    </a:ext>
                  </a:extLst>
                </a:gridCol>
              </a:tblGrid>
              <a:tr h="771564">
                <a:tc>
                  <a:txBody>
                    <a:bodyPr/>
                    <a:lstStyle/>
                    <a:p>
                      <a:pPr marL="0" marR="0">
                        <a:lnSpc>
                          <a:spcPct val="115000"/>
                        </a:lnSpc>
                        <a:spcAft>
                          <a:spcPts val="800"/>
                        </a:spcAft>
                        <a:buNone/>
                      </a:pPr>
                      <a:r>
                        <a:rPr lang="en-US" sz="2300" kern="100" dirty="0">
                          <a:effectLst/>
                        </a:rPr>
                        <a:t>A11y automated checker</a:t>
                      </a:r>
                      <a:endParaRPr lang="en-US" sz="2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28992" marR="128992" marT="0" marB="0"/>
                </a:tc>
                <a:tc>
                  <a:txBody>
                    <a:bodyPr/>
                    <a:lstStyle/>
                    <a:p>
                      <a:pPr marL="0" marR="0">
                        <a:lnSpc>
                          <a:spcPct val="115000"/>
                        </a:lnSpc>
                        <a:spcAft>
                          <a:spcPts val="800"/>
                        </a:spcAft>
                        <a:buNone/>
                      </a:pPr>
                      <a:r>
                        <a:rPr lang="en-US" sz="2300" kern="100" dirty="0">
                          <a:effectLst/>
                        </a:rPr>
                        <a:t>MS Accessibility checker</a:t>
                      </a:r>
                      <a:endParaRPr lang="en-US" sz="2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28992" marR="128992" marT="0" marB="0"/>
                </a:tc>
                <a:extLst>
                  <a:ext uri="{0D108BD9-81ED-4DB2-BD59-A6C34878D82A}">
                    <a16:rowId xmlns:a16="http://schemas.microsoft.com/office/drawing/2014/main" val="2904024515"/>
                  </a:ext>
                </a:extLst>
              </a:tr>
              <a:tr h="376109">
                <a:tc>
                  <a:txBody>
                    <a:bodyPr/>
                    <a:lstStyle/>
                    <a:p>
                      <a:pPr marL="0" marR="0">
                        <a:lnSpc>
                          <a:spcPct val="115000"/>
                        </a:lnSpc>
                        <a:spcAft>
                          <a:spcPts val="800"/>
                        </a:spcAft>
                        <a:buNone/>
                      </a:pPr>
                      <a:r>
                        <a:rPr lang="en-US" sz="2300" kern="100" dirty="0">
                          <a:effectLst/>
                          <a:latin typeface="Aptos" panose="020B0004020202020204" pitchFamily="34" charset="0"/>
                          <a:ea typeface="Aptos" panose="020B0004020202020204" pitchFamily="34" charset="0"/>
                          <a:cs typeface="Times New Roman" panose="02020603050405020304" pitchFamily="18" charset="0"/>
                        </a:rPr>
                        <a:t>False positive</a:t>
                      </a:r>
                    </a:p>
                  </a:txBody>
                  <a:tcPr marL="128992" marR="128992" marT="0" marB="0"/>
                </a:tc>
                <a:tc>
                  <a:txBody>
                    <a:bodyPr/>
                    <a:lstStyle/>
                    <a:p>
                      <a:pPr marL="0" marR="0">
                        <a:lnSpc>
                          <a:spcPct val="115000"/>
                        </a:lnSpc>
                        <a:spcAft>
                          <a:spcPts val="800"/>
                        </a:spcAft>
                        <a:buNone/>
                      </a:pPr>
                      <a:r>
                        <a:rPr lang="en-US" sz="2300" kern="100" dirty="0">
                          <a:effectLst/>
                          <a:latin typeface="Aptos" panose="020B0004020202020204" pitchFamily="34" charset="0"/>
                          <a:ea typeface="Aptos" panose="020B0004020202020204" pitchFamily="34" charset="0"/>
                          <a:cs typeface="Times New Roman" panose="02020603050405020304" pitchFamily="18" charset="0"/>
                        </a:rPr>
                        <a:t>n/a</a:t>
                      </a:r>
                    </a:p>
                  </a:txBody>
                  <a:tcPr marL="128992" marR="128992" marT="0" marB="0"/>
                </a:tc>
                <a:extLst>
                  <a:ext uri="{0D108BD9-81ED-4DB2-BD59-A6C34878D82A}">
                    <a16:rowId xmlns:a16="http://schemas.microsoft.com/office/drawing/2014/main" val="4046348799"/>
                  </a:ext>
                </a:extLst>
              </a:tr>
            </a:tbl>
          </a:graphicData>
        </a:graphic>
      </p:graphicFrame>
    </p:spTree>
    <p:extLst>
      <p:ext uri="{BB962C8B-B14F-4D97-AF65-F5344CB8AC3E}">
        <p14:creationId xmlns:p14="http://schemas.microsoft.com/office/powerpoint/2010/main" val="26301211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839</TotalTime>
  <Words>342</Words>
  <Application>Microsoft Macintosh PowerPoint</Application>
  <PresentationFormat>Widescreen</PresentationFormat>
  <Paragraphs>105</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Simple table without column header</vt:lpstr>
      <vt:lpstr>Column and row header</vt:lpstr>
      <vt:lpstr>Irregular tables</vt:lpstr>
      <vt:lpstr>Multiple headers</vt:lpstr>
      <vt:lpstr>Table captions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example</dc:title>
  <dc:subject/>
  <dc:creator>Damian Sian</dc:creator>
  <cp:keywords/>
  <dc:description/>
  <cp:lastModifiedBy>Damian Sian</cp:lastModifiedBy>
  <cp:revision>49</cp:revision>
  <dcterms:created xsi:type="dcterms:W3CDTF">2026-02-14T17:40:25Z</dcterms:created>
  <dcterms:modified xsi:type="dcterms:W3CDTF">2026-03-07T20:08:54Z</dcterms:modified>
  <cp:category/>
</cp:coreProperties>
</file>