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7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6C6FF"/>
    <a:srgbClr val="14911E"/>
    <a:srgbClr val="FF3C3C"/>
    <a:srgbClr val="569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94"/>
    <p:restoredTop sz="94672"/>
  </p:normalViewPr>
  <p:slideViewPr>
    <p:cSldViewPr snapToGrid="0">
      <p:cViewPr varScale="1">
        <p:scale>
          <a:sx n="175" d="100"/>
          <a:sy n="175" d="100"/>
        </p:scale>
        <p:origin x="5320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790E82-B582-0F4E-B2B3-2D64CFCFBDC7}" type="datetimeFigureOut">
              <a:rPr lang="en-US" smtClean="0"/>
              <a:t>3/7/26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04191A-9A8A-8845-9F9D-290305B59B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559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04191A-9A8A-8845-9F9D-290305B59B8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4809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D01B5B-DE28-E1BF-B0AB-9AF7969B7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4A0FBC-375D-E1FE-467B-A862354C40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F3C014-DFAE-6236-F369-348A092922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03066A-1B53-2AAD-DFEA-37AC45AFBC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04191A-9A8A-8845-9F9D-290305B59B8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43791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7376F-2D97-6933-3213-D18D6B29C5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ED932A-E1F3-C211-EBF1-E04428197F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462B1-C74B-8A3A-C2BA-B7DCCEA10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3/7/26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9D2883-B52D-A983-34DB-C8A769AF2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7D07C-BA79-04F5-4C02-DDCCA58C9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551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05C82-1CC3-AC31-E3EF-3F3332F18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CA12E9-6CC6-7DC1-FB69-024FDA6673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822B81-DBAF-710E-09E0-62ADE8CBD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3/7/26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4BC3CD-1AC2-93CA-EA97-E6C0162F54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6360A-832C-0FB2-73CC-D9BB5B8BB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3840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30069-965B-FC3E-C472-F8B56E5C50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33BCC6-8485-2AC6-E86D-3B2A2A1440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D1571A-05B2-E867-C34C-252D2EEDF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3/7/26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9F6E18-5177-3066-F056-97A41D440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C96FF5-C79E-9593-22CE-7D054F3F0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239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17ECF-CBE3-31EB-B257-262D3B380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CEC65-CABE-D21C-82D9-668597DACA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C0E477-1597-A66E-7686-45EA80D735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612B7F-3908-8D67-4F34-0A68FFC89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3/7/26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7D5CB9-07F7-4338-4EC5-7CF68C8DC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B1B9F6-BAD6-7A4E-B5F1-4E691B83A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4086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62F454-10F6-5770-7E7F-E42ED1603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523455-B40D-EDC6-AA9D-6B7091F785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3CCC01-6101-C285-06A2-A777C283F2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9F74A6-FAB5-113F-E770-E6FB93A920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5FEE5F-F466-8180-7B3A-5D96E323BD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82BBE5D-8DD3-CD4C-608C-8E55EE674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3/7/26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62BA3A-99A0-FA63-34C1-2F97E910FE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6C5EFD8-024D-EF7F-AD4B-32E93CD35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7830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D0AE0-C975-BD3B-A2A3-510DE88DDC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1576A1-3776-CE4D-31B1-91A6B17623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3/7/26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E3A433-52F1-D345-D108-ADFF1723C9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568C35-D622-203F-B599-5F4637C68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599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7DEAB3-BC18-6BAA-4B89-81707AC00F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3/7/26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4C35B4-A12C-ABC0-DADB-CBB201B23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E75B3F-640B-5A12-B347-B9DCE6586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95447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52A9A-756C-83FE-77A8-E688DC161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440373-0E3E-82DC-5106-472AFC65F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A9C73D-3B2B-7032-EE97-E7B702B4D0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2991D2-5635-CAC5-64C6-9A59ECA40C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3/7/26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059E87-BC6A-3B28-9803-6ABFD3B80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66257-5491-B38B-518F-4F72B8436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36353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A44DB-11FA-D952-7D77-BE5C88826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9E33AEA-F37E-45A9-0E64-4D95FA1E0F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14E053-4DA5-068D-3039-5EF0AF62ED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922219-5A51-9D04-D782-155E2FA64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3/7/26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2F794D-5F01-2983-2071-A8E500C50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82E7E5-0CAA-B92C-5412-45A94E18D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954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32B0D-22AC-87C5-5B46-0F716A484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EDE12D-0058-35B6-25E0-3D3C72C49F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ADACE2-5F78-C172-F3B2-D5B495B2B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3/7/26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AFF2F7-D5C2-7F65-2B55-B85670FB1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6F9E99-7000-729F-9201-349AC3D75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60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37EB893-5287-983B-E521-658E975573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934CDB-E575-88E5-DA94-AB3609D5FA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9D7FA3-36A5-F008-5C10-B57CD7EB8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3/7/26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24CCC-F7C3-03C7-1E7D-8984E15DC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70AA96-5BE6-B4FC-269D-F3A97E19D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6681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AE515B-60CE-BCD6-D7F7-D0B1D1ECE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281D3E-3945-75B6-E283-8A13E14297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3CFAD3-194D-45F8-7C72-0567348873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4DC69A-EA2F-A746-8DAA-A22638E842CE}" type="datetimeFigureOut">
              <a:rPr lang="en-US" smtClean="0"/>
              <a:t>3/7/26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EAAED0-C625-8FAA-B64A-B143BD63F3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350A21-9FBC-667E-3E50-2DFD7891D7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8710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1F76E-1B98-69F4-41A6-11E41140A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Simple table without column header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24356C-10C2-6B40-7689-9A2589898C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350657" cy="288426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Simple table that should have a table header of column set but does not. 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95AFC2A-C8A6-18C7-9C0C-DF13ED7941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1012878"/>
              </p:ext>
            </p:extLst>
          </p:nvPr>
        </p:nvGraphicFramePr>
        <p:xfrm>
          <a:off x="6154057" y="1821542"/>
          <a:ext cx="5254172" cy="205377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51016">
                  <a:extLst>
                    <a:ext uri="{9D8B030D-6E8A-4147-A177-3AD203B41FA5}">
                      <a16:colId xmlns:a16="http://schemas.microsoft.com/office/drawing/2014/main" val="1259032158"/>
                    </a:ext>
                  </a:extLst>
                </a:gridCol>
                <a:gridCol w="1751578">
                  <a:extLst>
                    <a:ext uri="{9D8B030D-6E8A-4147-A177-3AD203B41FA5}">
                      <a16:colId xmlns:a16="http://schemas.microsoft.com/office/drawing/2014/main" val="1746849884"/>
                    </a:ext>
                  </a:extLst>
                </a:gridCol>
                <a:gridCol w="1751578">
                  <a:extLst>
                    <a:ext uri="{9D8B030D-6E8A-4147-A177-3AD203B41FA5}">
                      <a16:colId xmlns:a16="http://schemas.microsoft.com/office/drawing/2014/main" val="1949070207"/>
                    </a:ext>
                  </a:extLst>
                </a:gridCol>
              </a:tblGrid>
              <a:tr h="513443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effectLst/>
                        </a:rPr>
                        <a:t>Date</a:t>
                      </a:r>
                      <a:endParaRPr lang="en-US" sz="12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effectLst/>
                        </a:rPr>
                        <a:t>Event</a:t>
                      </a:r>
                      <a:endParaRPr lang="en-US" sz="12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effectLst/>
                        </a:rPr>
                        <a:t>Venue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2035451"/>
                  </a:ext>
                </a:extLst>
              </a:tr>
              <a:tr h="513443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12 February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Waltz with Strauss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Main Hall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7606367"/>
                  </a:ext>
                </a:extLst>
              </a:tr>
              <a:tr h="513443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24 March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The Obelisks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West Wing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8939107"/>
                  </a:ext>
                </a:extLst>
              </a:tr>
              <a:tr h="513443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14 April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The What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Main Hall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9123798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058C430-A844-CF1E-415E-963AE19C0D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875774"/>
              </p:ext>
            </p:extLst>
          </p:nvPr>
        </p:nvGraphicFramePr>
        <p:xfrm>
          <a:off x="737869" y="4926451"/>
          <a:ext cx="5336360" cy="1169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9358">
                  <a:extLst>
                    <a:ext uri="{9D8B030D-6E8A-4147-A177-3AD203B41FA5}">
                      <a16:colId xmlns:a16="http://schemas.microsoft.com/office/drawing/2014/main" val="1997474820"/>
                    </a:ext>
                  </a:extLst>
                </a:gridCol>
                <a:gridCol w="2767002">
                  <a:extLst>
                    <a:ext uri="{9D8B030D-6E8A-4147-A177-3AD203B41FA5}">
                      <a16:colId xmlns:a16="http://schemas.microsoft.com/office/drawing/2014/main" val="123640046"/>
                    </a:ext>
                  </a:extLst>
                </a:gridCol>
              </a:tblGrid>
              <a:tr h="771564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 dirty="0">
                          <a:effectLst/>
                        </a:rPr>
                        <a:t>A11y automated checker</a:t>
                      </a:r>
                      <a:endParaRPr lang="en-US" sz="2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 dirty="0">
                          <a:effectLst/>
                        </a:rPr>
                        <a:t>MS Accessibility checker</a:t>
                      </a:r>
                      <a:endParaRPr lang="en-US" sz="2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2904024515"/>
                  </a:ext>
                </a:extLst>
              </a:tr>
              <a:tr h="3761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300" b="0" i="0" u="none" strike="noStrike" kern="1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Detected</a:t>
                      </a:r>
                      <a:endParaRPr kumimoji="0" lang="en-US" sz="23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3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Detected</a:t>
                      </a: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40463487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63694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B3E7B-4F45-5330-C0ED-C2897D729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CDB11E-263F-415C-83A7-D44DB0358D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Column and row header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3C24D5-4705-6CA6-330D-8DEFF80E2D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350657" cy="28842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following table has content that should be column headers and content that should be row headers per the visual affordances. 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57075D0-4573-CEE8-F2BD-77657E8200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2545119"/>
              </p:ext>
            </p:extLst>
          </p:nvPr>
        </p:nvGraphicFramePr>
        <p:xfrm>
          <a:off x="737869" y="4926451"/>
          <a:ext cx="5691960" cy="1169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0573">
                  <a:extLst>
                    <a:ext uri="{9D8B030D-6E8A-4147-A177-3AD203B41FA5}">
                      <a16:colId xmlns:a16="http://schemas.microsoft.com/office/drawing/2014/main" val="1997474820"/>
                    </a:ext>
                  </a:extLst>
                </a:gridCol>
                <a:gridCol w="2951387">
                  <a:extLst>
                    <a:ext uri="{9D8B030D-6E8A-4147-A177-3AD203B41FA5}">
                      <a16:colId xmlns:a16="http://schemas.microsoft.com/office/drawing/2014/main" val="123640046"/>
                    </a:ext>
                  </a:extLst>
                </a:gridCol>
              </a:tblGrid>
              <a:tr h="771564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 dirty="0">
                          <a:effectLst/>
                        </a:rPr>
                        <a:t>A11y automated checker</a:t>
                      </a:r>
                      <a:endParaRPr lang="en-US" sz="2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 dirty="0">
                          <a:effectLst/>
                        </a:rPr>
                        <a:t>MS Accessibility checker</a:t>
                      </a:r>
                      <a:endParaRPr lang="en-US" sz="2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2904024515"/>
                  </a:ext>
                </a:extLst>
              </a:tr>
              <a:tr h="37610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Not detected</a:t>
                      </a: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Not detected</a:t>
                      </a: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4046348799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04B3EF0-5377-5C66-0EE9-170F0C3E6B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5655455"/>
              </p:ext>
            </p:extLst>
          </p:nvPr>
        </p:nvGraphicFramePr>
        <p:xfrm>
          <a:off x="5725432" y="1895942"/>
          <a:ext cx="5820682" cy="2022916"/>
        </p:xfrm>
        <a:graphic>
          <a:graphicData uri="http://schemas.openxmlformats.org/drawingml/2006/table">
            <a:tbl>
              <a:tblPr firstRow="1"/>
              <a:tblGrid>
                <a:gridCol w="1454859">
                  <a:extLst>
                    <a:ext uri="{9D8B030D-6E8A-4147-A177-3AD203B41FA5}">
                      <a16:colId xmlns:a16="http://schemas.microsoft.com/office/drawing/2014/main" val="3545142912"/>
                    </a:ext>
                  </a:extLst>
                </a:gridCol>
                <a:gridCol w="1454859">
                  <a:extLst>
                    <a:ext uri="{9D8B030D-6E8A-4147-A177-3AD203B41FA5}">
                      <a16:colId xmlns:a16="http://schemas.microsoft.com/office/drawing/2014/main" val="931170384"/>
                    </a:ext>
                  </a:extLst>
                </a:gridCol>
                <a:gridCol w="1455482">
                  <a:extLst>
                    <a:ext uri="{9D8B030D-6E8A-4147-A177-3AD203B41FA5}">
                      <a16:colId xmlns:a16="http://schemas.microsoft.com/office/drawing/2014/main" val="465691830"/>
                    </a:ext>
                  </a:extLst>
                </a:gridCol>
                <a:gridCol w="1455482">
                  <a:extLst>
                    <a:ext uri="{9D8B030D-6E8A-4147-A177-3AD203B41FA5}">
                      <a16:colId xmlns:a16="http://schemas.microsoft.com/office/drawing/2014/main" val="1581414238"/>
                    </a:ext>
                  </a:extLst>
                </a:gridCol>
              </a:tblGrid>
              <a:tr h="50572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Time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Monday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Wednesday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Friday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303257"/>
                  </a:ext>
                </a:extLst>
              </a:tr>
              <a:tr h="50572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8:00 – 9:00 AM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Closed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Open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Open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2117613"/>
                  </a:ext>
                </a:extLst>
              </a:tr>
              <a:tr h="50572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9:00 – 10:00 AM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Open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Closed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Open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6687725"/>
                  </a:ext>
                </a:extLst>
              </a:tr>
              <a:tr h="50572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10:00 – 11:00 AM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Open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Open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Closed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14618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62629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501</TotalTime>
  <Words>113</Words>
  <Application>Microsoft Macintosh PowerPoint</Application>
  <PresentationFormat>Widescreen</PresentationFormat>
  <Paragraphs>42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Simple table without column header</vt:lpstr>
      <vt:lpstr>Column and row header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example</dc:title>
  <dc:subject/>
  <dc:creator>Damian Sian</dc:creator>
  <cp:keywords/>
  <dc:description/>
  <cp:lastModifiedBy>Damian Sian</cp:lastModifiedBy>
  <cp:revision>46</cp:revision>
  <dcterms:created xsi:type="dcterms:W3CDTF">2026-02-14T17:40:25Z</dcterms:created>
  <dcterms:modified xsi:type="dcterms:W3CDTF">2026-03-07T14:30:48Z</dcterms:modified>
  <cp:category/>
</cp:coreProperties>
</file>