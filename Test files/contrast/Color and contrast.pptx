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911E"/>
    <a:srgbClr val="56C6FF"/>
    <a:srgbClr val="FF3C3C"/>
    <a:srgbClr val="569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8"/>
    <p:restoredTop sz="94672"/>
  </p:normalViewPr>
  <p:slideViewPr>
    <p:cSldViewPr snapToGrid="0">
      <p:cViewPr varScale="1">
        <p:scale>
          <a:sx n="175" d="100"/>
          <a:sy n="175" d="100"/>
        </p:scale>
        <p:origin x="532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2">
                  <a:tint val="6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tint val="65000"/>
                </a:schemeClr>
              </a:solidFill>
              <a:ln w="9525">
                <a:solidFill>
                  <a:schemeClr val="accent2">
                    <a:tint val="65000"/>
                  </a:schemeClr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74F-2C45-9722-4D31C51392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74F-2C45-9722-4D31C51392F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2">
                  <a:shade val="6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shade val="65000"/>
                </a:schemeClr>
              </a:solidFill>
              <a:ln w="9525">
                <a:solidFill>
                  <a:schemeClr val="accent2">
                    <a:shade val="65000"/>
                  </a:schemeClr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74F-2C45-9722-4D31C51392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42079567"/>
        <c:axId val="2141383839"/>
      </c:lineChart>
      <c:catAx>
        <c:axId val="2142079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1383839"/>
        <c:crosses val="autoZero"/>
        <c:auto val="1"/>
        <c:lblAlgn val="ctr"/>
        <c:lblOffset val="100"/>
        <c:noMultiLvlLbl val="0"/>
      </c:catAx>
      <c:valAx>
        <c:axId val="21413838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2079567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/>
                </a:solidFill>
              </a:rPr>
              <a:t>Enrollment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Enrollment</c:v>
                </c:pt>
              </c:strCache>
            </c:strRef>
          </c:tx>
          <c:spPr>
            <a:solidFill>
              <a:srgbClr val="14911E"/>
            </a:solidFill>
          </c:spPr>
          <c:dPt>
            <c:idx val="0"/>
            <c:bubble3D val="0"/>
            <c:spPr>
              <a:solidFill>
                <a:srgbClr val="FF3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C89-0A41-BE71-C72DF1AC4B29}"/>
              </c:ext>
            </c:extLst>
          </c:dPt>
          <c:dPt>
            <c:idx val="1"/>
            <c:bubble3D val="0"/>
            <c:spPr>
              <a:solidFill>
                <a:srgbClr val="14911E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Undergraduate</c:v>
                </c:pt>
                <c:pt idx="1">
                  <c:v>Graduate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8200</c:v>
                </c:pt>
                <c:pt idx="1">
                  <c:v>3200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89-0A41-BE71-C72DF1AC4B2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790E82-B582-0F4E-B2B3-2D64CFCFBDC7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4191A-9A8A-8845-9F9D-290305B59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559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7376F-2D97-6933-3213-D18D6B29C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ED932A-E1F3-C211-EBF1-E04428197F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462B1-C74B-8A3A-C2BA-B7DCCEA10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D2883-B52D-A983-34DB-C8A769AF2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7D07C-BA79-04F5-4C02-DDCCA58C9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5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05C82-1CC3-AC31-E3EF-3F3332F18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A12E9-6CC6-7DC1-FB69-024FDA667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22B81-DBAF-710E-09E0-62ADE8CBD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BC3CD-1AC2-93CA-EA97-E6C0162F5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6360A-832C-0FB2-73CC-D9BB5B8BB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84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30069-965B-FC3E-C472-F8B56E5C5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3BCC6-8485-2AC6-E86D-3B2A2A144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1571A-05B2-E867-C34C-252D2EEDF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F6E18-5177-3066-F056-97A41D44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96FF5-C79E-9593-22CE-7D054F3F0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239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17ECF-CBE3-31EB-B257-262D3B380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CEC65-CABE-D21C-82D9-668597DAC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C0E477-1597-A66E-7686-45EA80D73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12B7F-3908-8D67-4F34-0A68FFC89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D5CB9-07F7-4338-4EC5-7CF68C8DC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1B9F6-BAD6-7A4E-B5F1-4E691B83A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08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2F454-10F6-5770-7E7F-E42ED1603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23455-B40D-EDC6-AA9D-6B7091F78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3CCC01-6101-C285-06A2-A777C283F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9F74A6-FAB5-113F-E770-E6FB93A92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5FEE5F-F466-8180-7B3A-5D96E323B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2BBE5D-8DD3-CD4C-608C-8E55EE674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2BA3A-99A0-FA63-34C1-2F97E910F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C5EFD8-024D-EF7F-AD4B-32E93CD3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783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0AE0-C975-BD3B-A2A3-510DE88DD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576A1-3776-CE4D-31B1-91A6B176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3A433-52F1-D345-D108-ADFF1723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568C35-D622-203F-B599-5F4637C6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9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7DEAB3-BC18-6BAA-4B89-81707AC00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4C35B4-A12C-ABC0-DADB-CBB201B2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75B3F-640B-5A12-B347-B9DCE658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544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52A9A-756C-83FE-77A8-E688DC161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40373-0E3E-82DC-5106-472AFC65F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9C73D-3B2B-7032-EE97-E7B702B4D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991D2-5635-CAC5-64C6-9A59ECA40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59E87-BC6A-3B28-9803-6ABFD3B80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66257-5491-B38B-518F-4F72B8436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35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44DB-11FA-D952-7D77-BE5C88826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E33AEA-F37E-45A9-0E64-4D95FA1E0F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4E053-4DA5-068D-3039-5EF0AF62E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22219-5A51-9D04-D782-155E2FA64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F794D-5F01-2983-2071-A8E500C5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2E7E5-0CAA-B92C-5412-45A94E18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54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32B0D-22AC-87C5-5B46-0F716A48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DE12D-0058-35B6-25E0-3D3C72C49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DACE2-5F78-C172-F3B2-D5B495B2B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FF2F7-D5C2-7F65-2B55-B85670FB1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F9E99-7000-729F-9201-349AC3D75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60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7EB893-5287-983B-E521-658E975573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34CDB-E575-88E5-DA94-AB3609D5F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D7FA3-36A5-F008-5C10-B57CD7EB8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24CCC-F7C3-03C7-1E7D-8984E15DC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0AA96-5BE6-B4FC-269D-F3A97E19D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6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AE515B-60CE-BCD6-D7F7-D0B1D1ECE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81D3E-3945-75B6-E283-8A13E1429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CFAD3-194D-45F8-7C72-056734887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AAED0-C625-8FAA-B64A-B143BD63F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50A21-9FBC-667E-3E50-2DFD7891D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71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1F76E-1B98-69F4-41A6-11E41140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Regular text contrast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4356C-10C2-6B40-7689-9A2589898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25094" cy="126356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That regular sized text is under the 4.5:1 at 2:1 contrast ratio #5692FF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E33A295-58EB-591D-C685-511856B2F71F}"/>
              </a:ext>
            </a:extLst>
          </p:cNvPr>
          <p:cNvSpPr txBox="1">
            <a:spLocks/>
          </p:cNvSpPr>
          <p:nvPr/>
        </p:nvSpPr>
        <p:spPr>
          <a:xfrm>
            <a:off x="6400800" y="1825625"/>
            <a:ext cx="5325094" cy="772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56C6FF"/>
                </a:solidFill>
              </a:rPr>
              <a:t>This regular sized text is under the 4.5:1 at 3:1 contrast ratio #56C6FF and should fail MS A11y Checker but it’s not for some reason. It does fail in MS Word though 🤷‍♂️. </a:t>
            </a:r>
            <a:endParaRPr lang="en-US" dirty="0">
              <a:solidFill>
                <a:srgbClr val="5692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396208-2C5F-9326-6387-73A15A50D398}"/>
              </a:ext>
            </a:extLst>
          </p:cNvPr>
          <p:cNvSpPr/>
          <p:nvPr/>
        </p:nvSpPr>
        <p:spPr>
          <a:xfrm>
            <a:off x="6495143" y="2786743"/>
            <a:ext cx="4855029" cy="1226457"/>
          </a:xfrm>
          <a:prstGeom prst="rect">
            <a:avLst/>
          </a:prstGeom>
          <a:solidFill>
            <a:srgbClr val="56C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For some reason, PowerPoint will only pick up contrast issues for text inside a shape or the fill of a table cell.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58C430-A844-CF1E-415E-963AE19C0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505205"/>
              </p:ext>
            </p:extLst>
          </p:nvPr>
        </p:nvGraphicFramePr>
        <p:xfrm>
          <a:off x="737869" y="4926451"/>
          <a:ext cx="10663102" cy="155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4086">
                  <a:extLst>
                    <a:ext uri="{9D8B030D-6E8A-4147-A177-3AD203B41FA5}">
                      <a16:colId xmlns:a16="http://schemas.microsoft.com/office/drawing/2014/main" val="1997474820"/>
                    </a:ext>
                  </a:extLst>
                </a:gridCol>
                <a:gridCol w="5529016">
                  <a:extLst>
                    <a:ext uri="{9D8B030D-6E8A-4147-A177-3AD203B41FA5}">
                      <a16:colId xmlns:a16="http://schemas.microsoft.com/office/drawing/2014/main" val="123640046"/>
                    </a:ext>
                  </a:extLst>
                </a:gridCol>
              </a:tblGrid>
              <a:tr h="7715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A11y automated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MS Accessibility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2904024515"/>
                  </a:ext>
                </a:extLst>
              </a:tr>
              <a:tr h="3761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</a:t>
                      </a: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Not detected in PowerPoint but is in Word for some reason.</a:t>
                      </a: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4046348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6369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4A58B-889D-10B6-DC3F-5FBA162DF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10F20-06CF-0DDD-8EF4-BC4FF1D1B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Large text contrast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E8BE7-F0B3-8C12-1554-671A990AD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25094" cy="126356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That regular sized text is under the 4.5:1 at 2:1 contrast ratio #5692FF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A5F404-A0B4-0898-3D9F-A9E3E806967F}"/>
              </a:ext>
            </a:extLst>
          </p:cNvPr>
          <p:cNvSpPr txBox="1">
            <a:spLocks/>
          </p:cNvSpPr>
          <p:nvPr/>
        </p:nvSpPr>
        <p:spPr>
          <a:xfrm>
            <a:off x="6400800" y="1825625"/>
            <a:ext cx="5325094" cy="1263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56C6FF"/>
                </a:solidFill>
              </a:rPr>
              <a:t>This regular sized text is under the 4.5:1 at 3:1 contrast ratio #56C6FF. 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652B224-AA1D-A5B0-4068-21F01B483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216208"/>
              </p:ext>
            </p:extLst>
          </p:nvPr>
        </p:nvGraphicFramePr>
        <p:xfrm>
          <a:off x="737869" y="4926451"/>
          <a:ext cx="10663102" cy="155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4086">
                  <a:extLst>
                    <a:ext uri="{9D8B030D-6E8A-4147-A177-3AD203B41FA5}">
                      <a16:colId xmlns:a16="http://schemas.microsoft.com/office/drawing/2014/main" val="1997474820"/>
                    </a:ext>
                  </a:extLst>
                </a:gridCol>
                <a:gridCol w="5529016">
                  <a:extLst>
                    <a:ext uri="{9D8B030D-6E8A-4147-A177-3AD203B41FA5}">
                      <a16:colId xmlns:a16="http://schemas.microsoft.com/office/drawing/2014/main" val="123640046"/>
                    </a:ext>
                  </a:extLst>
                </a:gridCol>
              </a:tblGrid>
              <a:tr h="7715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A11y automated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MS Accessibility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2904024515"/>
                  </a:ext>
                </a:extLst>
              </a:tr>
              <a:tr h="3761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</a:t>
                      </a: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Not detected in PowerPoint but is in Word for some reason.</a:t>
                      </a: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4046348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1324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1F549-594F-B8BA-82E8-B93B7CAD6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FC30-82F5-4718-7108-FA195706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Graphic content contrast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9A053-A351-318B-F871-A3C6267B4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25094" cy="126356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line chart has graphic elements under 3:1. #F1B4A4 is 1.8:1. 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5400A6A-887C-2B20-9654-A12DB23EC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327762"/>
              </p:ext>
            </p:extLst>
          </p:nvPr>
        </p:nvGraphicFramePr>
        <p:xfrm>
          <a:off x="810440" y="5354380"/>
          <a:ext cx="5804649" cy="116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831">
                  <a:extLst>
                    <a:ext uri="{9D8B030D-6E8A-4147-A177-3AD203B41FA5}">
                      <a16:colId xmlns:a16="http://schemas.microsoft.com/office/drawing/2014/main" val="1997474820"/>
                    </a:ext>
                  </a:extLst>
                </a:gridCol>
                <a:gridCol w="3009818">
                  <a:extLst>
                    <a:ext uri="{9D8B030D-6E8A-4147-A177-3AD203B41FA5}">
                      <a16:colId xmlns:a16="http://schemas.microsoft.com/office/drawing/2014/main" val="123640046"/>
                    </a:ext>
                  </a:extLst>
                </a:gridCol>
              </a:tblGrid>
              <a:tr h="7715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A11y automated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MS Accessibility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2904024515"/>
                  </a:ext>
                </a:extLst>
              </a:tr>
              <a:tr h="3761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Not detected</a:t>
                      </a: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Not detected</a:t>
                      </a: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4046348799"/>
                  </a:ext>
                </a:extLst>
              </a:tr>
            </a:tbl>
          </a:graphicData>
        </a:graphic>
      </p:graphicFrame>
      <p:graphicFrame>
        <p:nvGraphicFramePr>
          <p:cNvPr id="4" name="Chart 3" descr="Line chart displaying three series across four categories (Category 1–4) on a vertical scale from 0 to 6, with a data table shown below the chart. Series 1 (light peach line) has values of 4.3 in Category 1, 2.5 in Category 2, 3.5 in Category 3, and 4.5 in Category 4. Series 2 (orange line) shows 2.4, 4.4, 1.8, and 2.8 across the four categories, peaking at Category 2 and dipping at Category 3. Series 3 (darker orange/brown line) records 2.0 in Categories 1 and 2, increases to 3.0 in Category 3, and reaches the highest overall value of 5.0 in Category 4.">
            <a:extLst>
              <a:ext uri="{FF2B5EF4-FFF2-40B4-BE49-F238E27FC236}">
                <a16:creationId xmlns:a16="http://schemas.microsoft.com/office/drawing/2014/main" id="{912AABF4-7F75-F2CA-AE67-AB7F708707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8224690"/>
              </p:ext>
            </p:extLst>
          </p:nvPr>
        </p:nvGraphicFramePr>
        <p:xfrm>
          <a:off x="5870348" y="1820544"/>
          <a:ext cx="5719309" cy="3092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50653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DB91C-B87A-8068-045F-E23B15813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50CE1-BE16-2093-4381-938BE7896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Color used as sole means of communication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27FA9-B913-5A7B-DC4B-076E39AD3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02314" cy="35011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Differentiation between undergrad and grad relies on color alone barring access to people with color vision deficiency.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7C03C4-37E7-9828-1DD2-3412CC540970}"/>
              </a:ext>
            </a:extLst>
          </p:cNvPr>
          <p:cNvSpPr txBox="1"/>
          <p:nvPr/>
        </p:nvSpPr>
        <p:spPr>
          <a:xfrm>
            <a:off x="5783943" y="1647371"/>
            <a:ext cx="26561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Non-conforming example</a:t>
            </a:r>
          </a:p>
        </p:txBody>
      </p:sp>
      <p:graphicFrame>
        <p:nvGraphicFramePr>
          <p:cNvPr id="6" name="Chart 5" descr="Pie chart showing 72 percent undergraduate and 28% graduate enrollment where the pie slices are green and red respectively.">
            <a:extLst>
              <a:ext uri="{FF2B5EF4-FFF2-40B4-BE49-F238E27FC236}">
                <a16:creationId xmlns:a16="http://schemas.microsoft.com/office/drawing/2014/main" id="{651BB96E-83C3-D344-C7E6-4C1FCCECB0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3471594"/>
              </p:ext>
            </p:extLst>
          </p:nvPr>
        </p:nvGraphicFramePr>
        <p:xfrm>
          <a:off x="4747989" y="2061029"/>
          <a:ext cx="4582883" cy="3055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2E5CF80-2630-3BFD-A955-7F046AD68E1B}"/>
              </a:ext>
            </a:extLst>
          </p:cNvPr>
          <p:cNvSpPr txBox="1"/>
          <p:nvPr/>
        </p:nvSpPr>
        <p:spPr>
          <a:xfrm>
            <a:off x="8534400" y="1647371"/>
            <a:ext cx="26561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Achromatopsia emulation</a:t>
            </a:r>
          </a:p>
        </p:txBody>
      </p:sp>
      <p:pic>
        <p:nvPicPr>
          <p:cNvPr id="13" name="Picture 12" descr="Pie chart showing 72 percent undergraduate and 28% graduate enrollment, where the pie slices are nearly the same shades of gray.">
            <a:extLst>
              <a:ext uri="{FF2B5EF4-FFF2-40B4-BE49-F238E27FC236}">
                <a16:creationId xmlns:a16="http://schemas.microsoft.com/office/drawing/2014/main" id="{5FB16E37-2EC3-9640-D6CF-B73EDE7A9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1" y="2169886"/>
            <a:ext cx="2364574" cy="2934606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FC251E1-858D-2AAB-8276-C036FDC9FA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591900"/>
              </p:ext>
            </p:extLst>
          </p:nvPr>
        </p:nvGraphicFramePr>
        <p:xfrm>
          <a:off x="810440" y="5354380"/>
          <a:ext cx="6882131" cy="116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3619">
                  <a:extLst>
                    <a:ext uri="{9D8B030D-6E8A-4147-A177-3AD203B41FA5}">
                      <a16:colId xmlns:a16="http://schemas.microsoft.com/office/drawing/2014/main" val="1997474820"/>
                    </a:ext>
                  </a:extLst>
                </a:gridCol>
                <a:gridCol w="3568512">
                  <a:extLst>
                    <a:ext uri="{9D8B030D-6E8A-4147-A177-3AD203B41FA5}">
                      <a16:colId xmlns:a16="http://schemas.microsoft.com/office/drawing/2014/main" val="123640046"/>
                    </a:ext>
                  </a:extLst>
                </a:gridCol>
              </a:tblGrid>
              <a:tr h="7715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A11y automated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MS Accessibility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2904024515"/>
                  </a:ext>
                </a:extLst>
              </a:tr>
              <a:tr h="3761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Not detected</a:t>
                      </a: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Offers manual testing aid</a:t>
                      </a: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4046348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723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220</Words>
  <Application>Microsoft Macintosh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Regular text contrast</vt:lpstr>
      <vt:lpstr>Large text contrast</vt:lpstr>
      <vt:lpstr>Graphic content contrast</vt:lpstr>
      <vt:lpstr>Color used as sole means of communication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example</dc:title>
  <dc:subject/>
  <dc:creator>Damian Sian</dc:creator>
  <cp:keywords/>
  <dc:description/>
  <cp:lastModifiedBy>Damian Sian</cp:lastModifiedBy>
  <cp:revision>38</cp:revision>
  <dcterms:created xsi:type="dcterms:W3CDTF">2026-02-14T17:40:25Z</dcterms:created>
  <dcterms:modified xsi:type="dcterms:W3CDTF">2026-03-07T14:00:30Z</dcterms:modified>
  <cp:category/>
</cp:coreProperties>
</file>